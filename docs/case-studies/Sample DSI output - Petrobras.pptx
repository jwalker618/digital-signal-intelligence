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4"/>
  </p:sldMasterIdLst>
  <p:notesMasterIdLst>
    <p:notesMasterId r:id="rId7"/>
  </p:notesMasterIdLst>
  <p:handoutMasterIdLst>
    <p:handoutMasterId r:id="rId8"/>
  </p:handoutMasterIdLst>
  <p:sldIdLst>
    <p:sldId id="509" r:id="rId5"/>
    <p:sldId id="511" r:id="rId6"/>
  </p:sldIdLst>
  <p:sldSz cx="7559675" cy="106918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DE3"/>
    <a:srgbClr val="18206C"/>
    <a:srgbClr val="FF2358"/>
    <a:srgbClr val="A3ABFB"/>
    <a:srgbClr val="D1D5FD"/>
    <a:srgbClr val="7482F9"/>
    <a:srgbClr val="E6E8FE"/>
    <a:srgbClr val="B1B8FC"/>
    <a:srgbClr val="FFFFFE"/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AFB66-B656-4B2F-BE57-1FE4B1168F53}" v="181" dt="2025-11-19T10:19:10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4660" autoAdjust="0"/>
  </p:normalViewPr>
  <p:slideViewPr>
    <p:cSldViewPr snapToGrid="0">
      <p:cViewPr varScale="1">
        <p:scale>
          <a:sx n="62" d="100"/>
          <a:sy n="62" d="100"/>
        </p:scale>
        <p:origin x="2357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Walker" userId="ff1ba5ae-6b20-4808-8e9a-a67c52eb4b3b" providerId="ADAL" clId="{F0C435E3-6B21-47BE-A8EB-24AB796B47D1}"/>
    <pc:docChg chg="delSld">
      <pc:chgData name="John Walker" userId="ff1ba5ae-6b20-4808-8e9a-a67c52eb4b3b" providerId="ADAL" clId="{F0C435E3-6B21-47BE-A8EB-24AB796B47D1}" dt="2025-11-19T10:20:35.580" v="0" actId="47"/>
      <pc:docMkLst>
        <pc:docMk/>
      </pc:docMkLst>
      <pc:sldChg chg="del">
        <pc:chgData name="John Walker" userId="ff1ba5ae-6b20-4808-8e9a-a67c52eb4b3b" providerId="ADAL" clId="{F0C435E3-6B21-47BE-A8EB-24AB796B47D1}" dt="2025-11-19T10:20:35.580" v="0" actId="47"/>
        <pc:sldMkLst>
          <pc:docMk/>
          <pc:sldMk cId="3058767429" sldId="510"/>
        </pc:sldMkLst>
      </pc:sldChg>
      <pc:sldChg chg="del">
        <pc:chgData name="John Walker" userId="ff1ba5ae-6b20-4808-8e9a-a67c52eb4b3b" providerId="ADAL" clId="{F0C435E3-6B21-47BE-A8EB-24AB796B47D1}" dt="2025-11-19T10:20:35.580" v="0" actId="47"/>
        <pc:sldMkLst>
          <pc:docMk/>
          <pc:sldMk cId="3258503281" sldId="51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000B96-7A6E-97A2-5484-E9C6F067F6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A3DFD-521F-486F-27C7-BCDA930FC8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0CD6F-CA6B-467B-B77F-7D5376F958BA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7ADB52-810F-05A3-397F-1F6C6B7E92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C1889-0CAF-B629-9824-228674469D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898A8-228D-4EAD-A75E-A3F74B1A2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226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E5D94-6377-4C7C-A115-BB5DD728E4E3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34A4D-4358-424A-AE50-E3D9CF6A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5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7CA0-9A2C-C473-CF59-65490EE1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3D43A-85C1-1C77-3876-1824254EA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8F4F8-BDEF-D866-D929-5E6ACC31F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B1856-B67E-BAA0-6F73-C19FBE03A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4A4D-4358-424A-AE50-E3D9CF6AE5F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61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8A24-BE5D-BE87-CCB6-D89D4555F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4044E-DD1B-F455-F2F4-4C68BB8FE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82884-762A-6D90-D92B-38EEFFA93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8A975-CDDC-3352-D609-D9E56E4C5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4A4D-4358-424A-AE50-E3D9CF6AE5F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862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Title">
    <p:bg>
      <p:bgPr>
        <a:gradFill flip="none" rotWithShape="1">
          <a:gsLst>
            <a:gs pos="0">
              <a:schemeClr val="accent1"/>
            </a:gs>
            <a:gs pos="19000">
              <a:schemeClr val="accent1">
                <a:lumMod val="51000"/>
                <a:lumOff val="49000"/>
              </a:schemeClr>
            </a:gs>
            <a:gs pos="36000">
              <a:schemeClr val="accent1"/>
            </a:gs>
            <a:gs pos="100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A6412-D4B8-AD8E-F9F5-4F764BB3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9730" y="9832829"/>
            <a:ext cx="796891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13th August 2025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73A38-8D5E-6267-EE7C-B8DB71C6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4144" y="9840429"/>
            <a:ext cx="2551390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International Assessment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08C64C4-2205-75B3-404A-E7C8607B0C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243" y="4633119"/>
            <a:ext cx="4415811" cy="3142744"/>
          </a:xfrm>
        </p:spPr>
        <p:txBody>
          <a:bodyPr>
            <a:noAutofit/>
          </a:bodyPr>
          <a:lstStyle>
            <a:lvl1pPr marL="0" indent="0">
              <a:buNone/>
              <a:defRPr sz="963" b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66E9C71-3359-2F29-AD3A-A95D3E1BF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43" y="3213405"/>
            <a:ext cx="6520220" cy="1347000"/>
          </a:xfrm>
        </p:spPr>
        <p:txBody>
          <a:bodyPr>
            <a:noAutofit/>
          </a:bodyPr>
          <a:lstStyle>
            <a:lvl1pPr>
              <a:defRPr sz="260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275E08-D541-47C9-DF61-242F6A0BFD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" y="-91101"/>
            <a:ext cx="89007" cy="182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4041" tIns="22021" rIns="44041" bIns="22021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867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4157EC-F30D-2A25-DFA1-256C8AC91F33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F9069F6-0BFC-480F-A2A5-6AA0C1CC48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FDAAD2C-99CC-DA0F-9038-F3296D5E412E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2300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 Title">
    <p:bg>
      <p:bgPr>
        <a:gradFill flip="none" rotWithShape="1">
          <a:gsLst>
            <a:gs pos="0">
              <a:schemeClr val="accent1"/>
            </a:gs>
            <a:gs pos="19000">
              <a:schemeClr val="accent1">
                <a:lumMod val="51000"/>
                <a:lumOff val="49000"/>
              </a:schemeClr>
            </a:gs>
            <a:gs pos="36000">
              <a:schemeClr val="accent1"/>
            </a:gs>
            <a:gs pos="100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1C4134FD-2197-2DEF-0B24-B39ACB94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42459" y="9833102"/>
            <a:ext cx="797488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BB903F4-CB3E-6579-89EE-5E490F4953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9839" y="2472428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375EBC2-3CA8-004C-0AD1-6792DD9B0C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9839" y="3934354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4729070E-157E-D5F6-996A-1A79F14FC5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79840" y="5396282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9472245-FCA0-94D8-CA3A-CE59D5F208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79839" y="6858209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B355EA4-D08D-E10C-4CE5-B1BA3C89CF0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79839" y="8320135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8C858B8-D299-5D16-E508-3AE3808054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56985" y="2472428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01 )</a:t>
            </a:r>
            <a:endParaRPr lang="en-GB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9E9C9ED-B818-327A-A71B-0DAD2E751F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6985" y="3934354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02 )</a:t>
            </a:r>
            <a:endParaRPr lang="en-GB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7E183715-1477-3114-A695-285EB6AAAA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56985" y="5396282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03 )</a:t>
            </a:r>
            <a:endParaRPr lang="en-GB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DAE46BE-947B-4E3A-4B50-CE62BD909C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6985" y="6858209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04 )</a:t>
            </a:r>
            <a:endParaRPr lang="en-GB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3EC4FA-863D-07EE-FAAF-20EBF20ADA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56985" y="8320135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05 )</a:t>
            </a:r>
            <a:endParaRPr lang="en-GB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63028BA-1913-53D0-87F6-41ACE61A962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33749" y="1027088"/>
            <a:ext cx="4805214" cy="971529"/>
          </a:xfrm>
        </p:spPr>
        <p:txBody>
          <a:bodyPr anchor="ctr">
            <a:normAutofit/>
          </a:bodyPr>
          <a:lstStyle>
            <a:lvl1pPr marL="0" indent="0">
              <a:buNone/>
              <a:defRPr sz="1927">
                <a:solidFill>
                  <a:schemeClr val="bg1"/>
                </a:solidFill>
                <a:latin typeface="+mj-lt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 dirty="0"/>
              <a:t>Contents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2E6A2C-8A39-9661-ACFC-3D8FDA55B8ED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E32B0F-2A87-B4C5-0776-33819851B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631845-33EA-6796-5F9F-7297651C05C3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EC56AAB-1F24-E0BE-17D5-7B9A9B17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54703">
            <a:off x="-189079" y="548192"/>
            <a:ext cx="2602217" cy="19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21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8D5A2C1-DA90-7C02-7590-CF489F6F2DC8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45BD7F2-052A-5C0C-C672-F76F0F4AF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231FD6-D58E-3A9D-2E83-294D5B582E02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8309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64E58E-90DD-5504-E483-EFC24F0CE6E5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202572-32DC-D0D1-AB2E-A37E5D67B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DA22FA-3B93-25DD-2798-195CDA5C029A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2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0515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64E58E-90DD-5504-E483-EFC24F0CE6E5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202572-32DC-D0D1-AB2E-A37E5D67B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DA22FA-3B93-25DD-2798-195CDA5C029A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2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4849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6683D-8A01-8767-0341-00D66FBE9D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A5D152-0D78-FBA6-C491-03D335858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813" y="1027088"/>
            <a:ext cx="5407150" cy="94710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4DC73D7-8D72-C4BD-ECBA-2E4860D2AC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9" y="2098130"/>
            <a:ext cx="6520220" cy="75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  <a:p>
            <a:pPr lvl="3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62B26C7-BA46-1537-DC27-AAA266D8BA72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1482521-EF5B-B49B-D9B7-D2B087039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E78B69-EC2E-F142-71DF-CD3F6F1C6E41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CE01593-67BB-E782-B99B-5FD329511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75489">
            <a:off x="396339" y="990534"/>
            <a:ext cx="1025340" cy="10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44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ecutive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6683D-8A01-8767-0341-00D66FBE9D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DDF47F-ABC6-3B1C-36AE-EFF1495F185C}"/>
              </a:ext>
            </a:extLst>
          </p:cNvPr>
          <p:cNvSpPr txBox="1"/>
          <p:nvPr userDrawn="1"/>
        </p:nvSpPr>
        <p:spPr>
          <a:xfrm>
            <a:off x="1631814" y="1208254"/>
            <a:ext cx="390368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3200" dirty="0"/>
              <a:t>Executive Summary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A679617-5CE6-5D8C-BD43-817D9BB854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9" y="2098130"/>
            <a:ext cx="6520220" cy="75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  <a:p>
            <a:pPr lvl="3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D4D859-782B-3F99-315C-FCFAA2BE566C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D35155A-55D5-E819-ECD8-38CAFC250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85C786-2BAC-A7CD-01BD-B32DF225E92C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E0F4287-A991-F5C5-2597-BB248DDA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75489">
            <a:off x="396339" y="990534"/>
            <a:ext cx="1025340" cy="10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88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0FCE53-FF3E-EB70-F751-C404E02ACDF5}"/>
              </a:ext>
            </a:extLst>
          </p:cNvPr>
          <p:cNvCxnSpPr>
            <a:cxnSpLocks/>
          </p:cNvCxnSpPr>
          <p:nvPr userDrawn="1"/>
        </p:nvCxnSpPr>
        <p:spPr>
          <a:xfrm>
            <a:off x="501113" y="1024633"/>
            <a:ext cx="0" cy="947109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0E697-CAD7-304D-7275-EB7445FCD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7067598" y="8323338"/>
            <a:ext cx="984" cy="134700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5048DF17-2EC0-F5F3-A3D1-5F06AA1F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00" y="1027088"/>
            <a:ext cx="6520220" cy="94710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FD73621-B321-59AA-1071-8189819755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9" y="2098130"/>
            <a:ext cx="6520220" cy="75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  <a:p>
            <a:pPr lvl="3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81E1B1-2125-43AA-EE22-3FA87AE722A6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F5EEFF0-4DDA-FF08-7E86-621C44927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108A82-9007-98C9-5C63-1177030B57A3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340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48DF17-2EC0-F5F3-A3D1-5F06AA1F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29" y="3804072"/>
            <a:ext cx="6520220" cy="94710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323E839-8996-0090-09AB-DEA3F758C646}"/>
              </a:ext>
            </a:extLst>
          </p:cNvPr>
          <p:cNvGrpSpPr/>
          <p:nvPr userDrawn="1"/>
        </p:nvGrpSpPr>
        <p:grpSpPr>
          <a:xfrm>
            <a:off x="765143" y="5345907"/>
            <a:ext cx="4126733" cy="0"/>
            <a:chOff x="1233996" y="3429000"/>
            <a:chExt cx="6655461" cy="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3E1496B-5E3B-8E3E-BFD7-C8777709215C}"/>
                </a:ext>
              </a:extLst>
            </p:cNvPr>
            <p:cNvCxnSpPr>
              <a:cxnSpLocks/>
            </p:cNvCxnSpPr>
            <p:nvPr/>
          </p:nvCxnSpPr>
          <p:spPr>
            <a:xfrm>
              <a:off x="1233996" y="3429000"/>
              <a:ext cx="5724204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CF61B5-AFBC-A5AB-B151-5A109E382C40}"/>
                </a:ext>
              </a:extLst>
            </p:cNvPr>
            <p:cNvCxnSpPr>
              <a:cxnSpLocks/>
            </p:cNvCxnSpPr>
            <p:nvPr/>
          </p:nvCxnSpPr>
          <p:spPr>
            <a:xfrm>
              <a:off x="7169457" y="3429000"/>
              <a:ext cx="720000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3CF16A6-6031-249A-54B4-424C4DB400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9729" y="5540741"/>
            <a:ext cx="6520220" cy="4179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Heading two</a:t>
            </a:r>
          </a:p>
          <a:p>
            <a:pPr lvl="2"/>
            <a:r>
              <a:rPr lang="en-US"/>
              <a:t>Heading three</a:t>
            </a:r>
          </a:p>
          <a:p>
            <a:pPr lvl="3"/>
            <a:r>
              <a:rPr lang="en-US"/>
              <a:t>Paragraph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lvl="3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33308F-08AA-EED3-16AD-0366E9E622D7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51319E7-7D4C-C649-B435-9686EAFA82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21E013-0AD8-3BFE-A55F-D30B9D4403B5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427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riable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0E697-CAD7-304D-7275-EB7445FCD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7067598" y="8323338"/>
            <a:ext cx="984" cy="134700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2C31AF-81B7-4D2C-F04F-AC5AFFD2A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8" y="2853256"/>
            <a:ext cx="6519236" cy="6811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048DF17-2EC0-F5F3-A3D1-5F06AA1F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00" y="1027088"/>
            <a:ext cx="6520220" cy="94710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6E0A763-F5D7-7B27-9AF7-1C83925550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0100" y="2099426"/>
            <a:ext cx="6520220" cy="628600"/>
          </a:xfrm>
        </p:spPr>
        <p:txBody>
          <a:bodyPr anchor="ctr">
            <a:normAutofit/>
          </a:bodyPr>
          <a:lstStyle>
            <a:lvl1pPr marL="0" indent="0">
              <a:buNone/>
              <a:defRPr sz="963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Description</a:t>
            </a:r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04C862-9362-9AD8-1C6D-4FBEDD108DF0}"/>
              </a:ext>
            </a:extLst>
          </p:cNvPr>
          <p:cNvCxnSpPr>
            <a:cxnSpLocks/>
          </p:cNvCxnSpPr>
          <p:nvPr userDrawn="1"/>
        </p:nvCxnSpPr>
        <p:spPr>
          <a:xfrm>
            <a:off x="501113" y="1024633"/>
            <a:ext cx="0" cy="947109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4E2557-FB13-B09F-478E-84814B91F4AF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3E0CBE9-D23F-4B94-F4F0-B3EEB5F05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69BF62-05CB-5AC3-D5D2-4E659C700D8E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190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evelop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48DF17-2EC0-F5F3-A3D1-5F06AA1F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00" y="1027088"/>
            <a:ext cx="6520220" cy="94710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DF5A2C-57E7-F1C4-7BC1-3E9CBB617167}"/>
              </a:ext>
            </a:extLst>
          </p:cNvPr>
          <p:cNvCxnSpPr>
            <a:cxnSpLocks/>
          </p:cNvCxnSpPr>
          <p:nvPr userDrawn="1"/>
        </p:nvCxnSpPr>
        <p:spPr>
          <a:xfrm>
            <a:off x="501113" y="3291698"/>
            <a:ext cx="0" cy="4882875"/>
          </a:xfrm>
          <a:prstGeom prst="line">
            <a:avLst/>
          </a:prstGeom>
          <a:ln w="57150">
            <a:solidFill>
              <a:schemeClr val="tx2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78C88AC9-CB0D-BBA5-6CA1-AA3F74FA32A1}"/>
              </a:ext>
            </a:extLst>
          </p:cNvPr>
          <p:cNvSpPr/>
          <p:nvPr userDrawn="1"/>
        </p:nvSpPr>
        <p:spPr>
          <a:xfrm flipH="1" flipV="1">
            <a:off x="322539" y="7868725"/>
            <a:ext cx="178575" cy="449000"/>
          </a:xfrm>
          <a:prstGeom prst="rtTriangle">
            <a:avLst/>
          </a:prstGeom>
          <a:solidFill>
            <a:schemeClr val="tx2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67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8FBCCC0-BF96-939F-9B7D-FB6340D615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8" y="2853256"/>
            <a:ext cx="6519236" cy="6811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B99A664-CD7A-BF85-45F9-7634FAB29B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0100" y="2099426"/>
            <a:ext cx="6520220" cy="628600"/>
          </a:xfrm>
        </p:spPr>
        <p:txBody>
          <a:bodyPr anchor="ctr">
            <a:normAutofit/>
          </a:bodyPr>
          <a:lstStyle>
            <a:lvl1pPr marL="0" indent="0">
              <a:buNone/>
              <a:defRPr sz="963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Description</a:t>
            </a:r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A2C5FD-14C2-66DF-9F2C-D6C7581A05C0}"/>
              </a:ext>
            </a:extLst>
          </p:cNvPr>
          <p:cNvGrpSpPr/>
          <p:nvPr userDrawn="1"/>
        </p:nvGrpSpPr>
        <p:grpSpPr>
          <a:xfrm>
            <a:off x="5873134" y="211522"/>
            <a:ext cx="1150818" cy="473555"/>
            <a:chOff x="5054135" y="958952"/>
            <a:chExt cx="1404852" cy="30375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9E17A9F-7F82-3A58-85C0-C112B440A7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2"/>
              <a:ext cx="726647" cy="3037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1F5D987-6D39-76BA-7C0F-E308BA3C5F80}"/>
                </a:ext>
              </a:extLst>
            </p:cNvPr>
            <p:cNvSpPr txBox="1"/>
            <p:nvPr userDrawn="1"/>
          </p:nvSpPr>
          <p:spPr>
            <a:xfrm>
              <a:off x="5644339" y="1032921"/>
              <a:ext cx="814648" cy="164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28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3380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mpact It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6683D-8A01-8767-0341-00D66FBE9D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DEDA27A-8DCA-23F0-D495-01C8D6F534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714" y="1024633"/>
            <a:ext cx="3259125" cy="864254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/>
              <a:t>Big description with key words  drawn out for effect</a:t>
            </a:r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794314-A184-30AD-1AA6-B95AAF35F73D}"/>
              </a:ext>
            </a:extLst>
          </p:cNvPr>
          <p:cNvGrpSpPr/>
          <p:nvPr userDrawn="1"/>
        </p:nvGrpSpPr>
        <p:grpSpPr>
          <a:xfrm>
            <a:off x="3806614" y="1711137"/>
            <a:ext cx="3159771" cy="7269543"/>
            <a:chOff x="6139183" y="1311559"/>
            <a:chExt cx="5095976" cy="466286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BDDC032-707B-5D07-E24B-6053684D4F85}"/>
                </a:ext>
              </a:extLst>
            </p:cNvPr>
            <p:cNvGrpSpPr/>
            <p:nvPr userDrawn="1"/>
          </p:nvGrpSpPr>
          <p:grpSpPr>
            <a:xfrm>
              <a:off x="6693177" y="1311559"/>
              <a:ext cx="4541982" cy="4217151"/>
              <a:chOff x="6693177" y="819561"/>
              <a:chExt cx="4541982" cy="421715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214C340-8E65-827E-EDB6-167E8A1387BE}"/>
                  </a:ext>
                </a:extLst>
              </p:cNvPr>
              <p:cNvSpPr/>
              <p:nvPr userDrawn="1"/>
            </p:nvSpPr>
            <p:spPr>
              <a:xfrm rot="292208">
                <a:off x="8355159" y="819561"/>
                <a:ext cx="2880000" cy="288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9000">
                    <a:schemeClr val="accent1">
                      <a:lumMod val="51000"/>
                      <a:lumOff val="49000"/>
                    </a:schemeClr>
                  </a:gs>
                  <a:gs pos="36000">
                    <a:schemeClr val="accent1"/>
                  </a:gs>
                  <a:gs pos="100000">
                    <a:schemeClr val="accent1"/>
                  </a:gs>
                </a:gsLst>
                <a:lin ang="18900000" scaled="1"/>
              </a:gradFill>
              <a:ln w="38100">
                <a:solidFill>
                  <a:schemeClr val="bg1"/>
                </a:solidFill>
              </a:ln>
              <a:scene3d>
                <a:camera prst="perspectiveLef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67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03AB7A9-2103-618D-EFAC-343D1252D33E}"/>
                  </a:ext>
                </a:extLst>
              </p:cNvPr>
              <p:cNvSpPr/>
              <p:nvPr userDrawn="1"/>
            </p:nvSpPr>
            <p:spPr>
              <a:xfrm rot="292208">
                <a:off x="7801165" y="1265278"/>
                <a:ext cx="2880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30000"/>
                    </a:schemeClr>
                  </a:gs>
                  <a:gs pos="19000">
                    <a:schemeClr val="accent1">
                      <a:lumMod val="51000"/>
                      <a:lumOff val="49000"/>
                      <a:alpha val="30000"/>
                    </a:schemeClr>
                  </a:gs>
                  <a:gs pos="3600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30000"/>
                    </a:schemeClr>
                  </a:gs>
                </a:gsLst>
                <a:lin ang="18900000" scaled="1"/>
              </a:gradFill>
              <a:ln w="38100">
                <a:solidFill>
                  <a:schemeClr val="bg1"/>
                </a:solidFill>
              </a:ln>
              <a:scene3d>
                <a:camera prst="perspectiveLef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67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F6535F-DEF9-B490-4214-7F7C579B1068}"/>
                  </a:ext>
                </a:extLst>
              </p:cNvPr>
              <p:cNvSpPr/>
              <p:nvPr userDrawn="1"/>
            </p:nvSpPr>
            <p:spPr>
              <a:xfrm rot="292208">
                <a:off x="7247171" y="1710995"/>
                <a:ext cx="2880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20000"/>
                    </a:schemeClr>
                  </a:gs>
                  <a:gs pos="19000">
                    <a:schemeClr val="accent1">
                      <a:lumMod val="51000"/>
                      <a:lumOff val="49000"/>
                      <a:alpha val="20000"/>
                    </a:schemeClr>
                  </a:gs>
                  <a:gs pos="3600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20000"/>
                    </a:schemeClr>
                  </a:gs>
                </a:gsLst>
                <a:lin ang="18900000" scaled="1"/>
              </a:gradFill>
              <a:ln w="38100">
                <a:solidFill>
                  <a:schemeClr val="bg1"/>
                </a:solidFill>
              </a:ln>
              <a:scene3d>
                <a:camera prst="perspectiveLef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67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90C7CFE-B6B9-50E5-3AD0-F30B82E714FE}"/>
                  </a:ext>
                </a:extLst>
              </p:cNvPr>
              <p:cNvSpPr/>
              <p:nvPr userDrawn="1"/>
            </p:nvSpPr>
            <p:spPr>
              <a:xfrm rot="292208">
                <a:off x="6693177" y="2156712"/>
                <a:ext cx="2880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10000"/>
                    </a:schemeClr>
                  </a:gs>
                  <a:gs pos="19000">
                    <a:schemeClr val="accent1">
                      <a:lumMod val="51000"/>
                      <a:lumOff val="49000"/>
                      <a:alpha val="10000"/>
                    </a:schemeClr>
                  </a:gs>
                  <a:gs pos="3600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8900000" scaled="1"/>
              </a:gradFill>
              <a:ln w="38100">
                <a:solidFill>
                  <a:schemeClr val="bg1"/>
                </a:solidFill>
              </a:ln>
              <a:scene3d>
                <a:camera prst="perspectiveLef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67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8A7F09-CEB1-F193-B828-339CC80FB154}"/>
                </a:ext>
              </a:extLst>
            </p:cNvPr>
            <p:cNvSpPr/>
            <p:nvPr userDrawn="1"/>
          </p:nvSpPr>
          <p:spPr>
            <a:xfrm rot="292208">
              <a:off x="6139183" y="3094428"/>
              <a:ext cx="2880000" cy="2880000"/>
            </a:xfrm>
            <a:prstGeom prst="rect">
              <a:avLst/>
            </a:prstGeom>
            <a:gradFill>
              <a:gsLst>
                <a:gs pos="0">
                  <a:schemeClr val="accent1">
                    <a:alpha val="5000"/>
                  </a:schemeClr>
                </a:gs>
                <a:gs pos="19000">
                  <a:schemeClr val="accent1">
                    <a:lumMod val="51000"/>
                    <a:lumOff val="49000"/>
                    <a:alpha val="5000"/>
                  </a:schemeClr>
                </a:gs>
                <a:gs pos="36000">
                  <a:schemeClr val="accent1">
                    <a:alpha val="5000"/>
                  </a:schemeClr>
                </a:gs>
                <a:gs pos="100000">
                  <a:schemeClr val="accent1">
                    <a:alpha val="5000"/>
                  </a:schemeClr>
                </a:gs>
              </a:gsLst>
              <a:lin ang="18900000" scaled="1"/>
            </a:gradFill>
            <a:ln w="38100">
              <a:solidFill>
                <a:schemeClr val="bg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67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C88C7B-DCB6-83B8-A56C-0DE837636AD6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A589F52-9230-D236-AFF8-24A0C197F8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310A4E-A56A-5137-0F47-2D2A8DEBE2EE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0576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tric Repo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02D59BA-2451-1AC2-CC8D-34067C454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3" r="3659" b="8041"/>
          <a:stretch/>
        </p:blipFill>
        <p:spPr>
          <a:xfrm>
            <a:off x="3779837" y="1393176"/>
            <a:ext cx="3779838" cy="9298638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03EFFD2-8B13-FB67-5369-EA9726692E45}"/>
              </a:ext>
            </a:extLst>
          </p:cNvPr>
          <p:cNvSpPr/>
          <p:nvPr userDrawn="1"/>
        </p:nvSpPr>
        <p:spPr>
          <a:xfrm>
            <a:off x="3756630" y="6651488"/>
            <a:ext cx="558047" cy="14031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67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44B06-1D19-1AEE-85EE-1BE448720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862">
            <a:off x="3792834" y="6745571"/>
            <a:ext cx="485638" cy="121496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6683D-8A01-8767-0341-00D66FBE9D54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DEDA27A-8DCA-23F0-D495-01C8D6F53414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20714" y="1024633"/>
            <a:ext cx="3259125" cy="1336927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/>
              <a:t>Key Item</a:t>
            </a:r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5546B00B-C85A-32B1-4D93-301153DD5DB0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20714" y="2447956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09995E39-3B62-77B1-D2B0-6BE631D7E99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20714" y="6906933"/>
            <a:ext cx="3259125" cy="1336927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/>
              <a:t>Key Item</a:t>
            </a:r>
            <a:endParaRPr lang="en-GB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6898EAD7-5BF7-8D19-DBBA-D5C0D045B196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20714" y="8330255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88C6C45-7168-3C2D-A30B-2CCB4343D5E1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20714" y="3965783"/>
            <a:ext cx="3259125" cy="1336927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/>
              <a:t>Key Item</a:t>
            </a:r>
            <a:endParaRPr lang="en-GB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E80F3A0A-4EF6-0A4A-04D2-64C017D7926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20714" y="5389105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2BB017-0162-8FAF-269F-363D13B9821C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883D5B2-F369-DFC0-0653-04281297E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E9A829-EBE0-9363-4344-501F366BF620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2382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FE83BF8-6408-D3CD-19B6-5B641563E341}"/>
              </a:ext>
            </a:extLst>
          </p:cNvPr>
          <p:cNvSpPr txBox="1"/>
          <p:nvPr userDrawn="1"/>
        </p:nvSpPr>
        <p:spPr>
          <a:xfrm>
            <a:off x="520100" y="1027089"/>
            <a:ext cx="3046774" cy="303726"/>
          </a:xfrm>
          <a:prstGeom prst="rect">
            <a:avLst/>
          </a:prstGeom>
          <a:solidFill>
            <a:schemeClr val="accent1"/>
          </a:solidFill>
        </p:spPr>
        <p:txBody>
          <a:bodyPr wrap="square" tIns="0" bIns="0" rtlCol="0">
            <a:spAutoFit/>
          </a:bodyPr>
          <a:lstStyle/>
          <a:p>
            <a:r>
              <a:rPr lang="en-GB" sz="1927">
                <a:solidFill>
                  <a:schemeClr val="bg1"/>
                </a:solidFill>
                <a:latin typeface="+mj-lt"/>
                <a:ea typeface="Inter ExtraBold" panose="02000503000000020004" pitchFamily="2" charset="0"/>
              </a:rPr>
              <a:t>Appendix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AC67DF-E2FD-3D41-2BA6-8929D10AF129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575F630-FCA4-4AA0-FFDD-BEE882EFC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FB127A-BDC2-52E8-5C35-83D34FB994F2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648253E-4960-49D5-1DAE-A6533F702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/>
          <a:stretch/>
        </p:blipFill>
        <p:spPr>
          <a:xfrm>
            <a:off x="0" y="1596789"/>
            <a:ext cx="2566264" cy="58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00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it and 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FE83BF8-6408-D3CD-19B6-5B641563E341}"/>
              </a:ext>
            </a:extLst>
          </p:cNvPr>
          <p:cNvSpPr txBox="1"/>
          <p:nvPr userDrawn="1"/>
        </p:nvSpPr>
        <p:spPr>
          <a:xfrm>
            <a:off x="520100" y="1027089"/>
            <a:ext cx="2422532" cy="398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27">
                <a:solidFill>
                  <a:schemeClr val="bg1"/>
                </a:solidFill>
                <a:latin typeface="+mj-lt"/>
                <a:ea typeface="Inter ExtraBold" panose="02000503000000020004" pitchFamily="2" charset="0"/>
              </a:rPr>
              <a:t>Thank-you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95A5BC-0FE8-C406-9B91-730B5844F6E6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C00FE8D-61B8-711A-D0A4-15D61CDE4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ED484C-B858-599A-267C-AA8A6CC2E863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6FB260C-17F4-4F6C-A881-A1317B561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20"/>
          <a:stretch/>
        </p:blipFill>
        <p:spPr>
          <a:xfrm>
            <a:off x="1037230" y="2498098"/>
            <a:ext cx="6522445" cy="479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86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C3DBF-CA17-6DC5-FB3B-AAD018BE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00" y="1027088"/>
            <a:ext cx="6520220" cy="9471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C351C-1A2F-F3F9-176F-1CDE5F7C9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729" y="2700977"/>
            <a:ext cx="6520220" cy="6929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Heading two</a:t>
            </a:r>
          </a:p>
          <a:p>
            <a:pPr lvl="2"/>
            <a:r>
              <a:rPr lang="en-US"/>
              <a:t>Heading three</a:t>
            </a:r>
          </a:p>
          <a:p>
            <a:pPr lvl="3"/>
            <a:r>
              <a:rPr lang="en-US"/>
              <a:t>Paragraph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lvl="3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B6CD4-2037-2E35-2091-278FA8D4D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730" y="9833102"/>
            <a:ext cx="79689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/>
              <a:t>13th August 2025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0ED56-3CFE-0A7D-F462-E747B65C0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4144" y="9833102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GB"/>
              <a:t>International Assessment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3F7C1-2E62-AD68-F8B6-D8A4A468E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42459" y="9833102"/>
            <a:ext cx="79748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2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29" r:id="rId2"/>
    <p:sldLayoutId id="2147483832" r:id="rId3"/>
    <p:sldLayoutId id="2147483835" r:id="rId4"/>
    <p:sldLayoutId id="2147483836" r:id="rId5"/>
    <p:sldLayoutId id="2147483820" r:id="rId6"/>
    <p:sldLayoutId id="2147483831" r:id="rId7"/>
    <p:sldLayoutId id="2147483791" r:id="rId8"/>
    <p:sldLayoutId id="2147483830" r:id="rId9"/>
    <p:sldLayoutId id="2147483828" r:id="rId10"/>
    <p:sldLayoutId id="2147483833" r:id="rId11"/>
    <p:sldLayoutId id="2147483834" r:id="rId12"/>
    <p:sldLayoutId id="2147483821" r:id="rId13"/>
    <p:sldLayoutId id="2147483809" r:id="rId14"/>
    <p:sldLayoutId id="2147483796" r:id="rId15"/>
  </p:sldLayoutIdLst>
  <p:hf hdr="0"/>
  <p:txStyles>
    <p:titleStyle>
      <a:lvl1pPr algn="l" defTabSz="440438" rtl="0" eaLnBrk="1" latinLnBrk="0" hangingPunct="1">
        <a:lnSpc>
          <a:spcPct val="90000"/>
        </a:lnSpc>
        <a:spcBef>
          <a:spcPct val="0"/>
        </a:spcBef>
        <a:buNone/>
        <a:defRPr sz="1927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110" indent="-110110" algn="l" defTabSz="440438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34" kern="1200">
          <a:solidFill>
            <a:schemeClr val="tx1"/>
          </a:solidFill>
          <a:latin typeface="Inter SemiBold" panose="02000503000000020004" pitchFamily="2" charset="0"/>
          <a:ea typeface="Inter SemiBold" panose="02000503000000020004" pitchFamily="2" charset="0"/>
          <a:cs typeface="+mn-cs"/>
        </a:defRPr>
      </a:lvl1pPr>
      <a:lvl2pPr marL="330329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1349" b="0" kern="1200">
          <a:solidFill>
            <a:schemeClr val="tx1"/>
          </a:solidFill>
          <a:latin typeface="Inter" panose="02000503000000020004"/>
          <a:ea typeface="Inter" panose="02000503000000020004" pitchFamily="2" charset="0"/>
          <a:cs typeface="+mn-cs"/>
        </a:defRPr>
      </a:lvl2pPr>
      <a:lvl3pPr marL="550548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963" b="0" kern="1200">
          <a:solidFill>
            <a:schemeClr val="tx1"/>
          </a:solidFill>
          <a:latin typeface="Inter" panose="02000503000000020004"/>
          <a:ea typeface="Inter" panose="02000503000000020004" pitchFamily="2" charset="0"/>
          <a:cs typeface="+mn-cs"/>
        </a:defRPr>
      </a:lvl3pPr>
      <a:lvl4pPr marL="770767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Inter" panose="02000503000000020004"/>
          <a:ea typeface="Inter" panose="02000503000000020004" pitchFamily="2" charset="0"/>
          <a:cs typeface="+mn-cs"/>
        </a:defRPr>
      </a:lvl4pPr>
      <a:lvl5pPr marL="990986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bg1"/>
          </a:solidFill>
          <a:latin typeface="+mn-lt"/>
          <a:ea typeface="+mn-ea"/>
          <a:cs typeface="+mn-cs"/>
        </a:defRPr>
      </a:lvl5pPr>
      <a:lvl6pPr marL="1211205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6pPr>
      <a:lvl7pPr marL="1431424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7pPr>
      <a:lvl8pPr marL="1651643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8pPr>
      <a:lvl9pPr marL="1871862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1pPr>
      <a:lvl2pPr marL="220219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2pPr>
      <a:lvl3pPr marL="440438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3pPr>
      <a:lvl4pPr marL="660657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4pPr>
      <a:lvl5pPr marL="880876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5pPr>
      <a:lvl6pPr marL="1101095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6pPr>
      <a:lvl7pPr marL="1321314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7pPr>
      <a:lvl8pPr marL="1541533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8pPr>
      <a:lvl9pPr marL="1761752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8" userDrawn="1">
          <p15:clr>
            <a:srgbClr val="F26B43"/>
          </p15:clr>
        </p15:guide>
        <p15:guide id="2" pos="23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F2FA-A32C-0E18-93CD-EA27651B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1315B012-788E-5B64-F9B7-E39FA20816F5}"/>
              </a:ext>
            </a:extLst>
          </p:cNvPr>
          <p:cNvSpPr/>
          <p:nvPr/>
        </p:nvSpPr>
        <p:spPr>
          <a:xfrm>
            <a:off x="518400" y="3887089"/>
            <a:ext cx="6516000" cy="16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dirty="0">
                <a:solidFill>
                  <a:schemeClr val="tx1"/>
                </a:solidFill>
                <a:latin typeface="Aptos SemiBold" panose="020B0004020202020204" pitchFamily="34" charset="0"/>
              </a:rPr>
              <a:t>Key findings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B86793C5-4A1E-4912-04B0-B19D419F2561}"/>
              </a:ext>
            </a:extLst>
          </p:cNvPr>
          <p:cNvSpPr txBox="1">
            <a:spLocks/>
          </p:cNvSpPr>
          <p:nvPr/>
        </p:nvSpPr>
        <p:spPr>
          <a:xfrm>
            <a:off x="518400" y="712800"/>
            <a:ext cx="5408468" cy="720000"/>
          </a:xfrm>
          <a:prstGeom prst="rect">
            <a:avLst/>
          </a:prstGeom>
        </p:spPr>
        <p:txBody>
          <a:bodyPr lIns="0" anchor="b"/>
          <a:lstStyle>
            <a:lvl1pPr algn="l" defTabSz="4404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27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dirty="0"/>
              <a:t>Digital Signal Intelligence</a:t>
            </a:r>
          </a:p>
          <a:p>
            <a:r>
              <a:rPr lang="en-GB" sz="1600" dirty="0"/>
              <a:t>Client Analysis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5C20533-3139-9685-972A-3E34B7230416}"/>
              </a:ext>
            </a:extLst>
          </p:cNvPr>
          <p:cNvSpPr txBox="1">
            <a:spLocks/>
          </p:cNvSpPr>
          <p:nvPr/>
        </p:nvSpPr>
        <p:spPr>
          <a:xfrm>
            <a:off x="519728" y="1436818"/>
            <a:ext cx="6516000" cy="155821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Aptos" panose="020B0004020202020204" pitchFamily="34" charset="0"/>
                <a:ea typeface="Inter" panose="02000503000000020004" pitchFamily="2" charset="0"/>
              </a:rPr>
              <a:t>Sample Comprehensive Risk Assessment Report</a:t>
            </a:r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B0E24B8E-E46D-1CB4-A96E-B1524E22E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428599"/>
              </p:ext>
            </p:extLst>
          </p:nvPr>
        </p:nvGraphicFramePr>
        <p:xfrm>
          <a:off x="643505" y="4106747"/>
          <a:ext cx="6265791" cy="128016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50905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5914886">
                  <a:extLst>
                    <a:ext uri="{9D8B030D-6E8A-4147-A177-3AD203B41FA5}">
                      <a16:colId xmlns:a16="http://schemas.microsoft.com/office/drawing/2014/main" val="3935033781"/>
                    </a:ext>
                  </a:extLst>
                </a:gridCol>
              </a:tblGrid>
              <a:tr h="12894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☑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Major digital transformation 2022-2023: consolidated 24 fragmented sites onto single Liferay platform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☑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Exceptional network position: cited by WEF, Bloomberg, Global 500 #71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3920993623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☑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Strong governance transparency: full board disclosure, committee structures public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2288398457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☑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Technology leadership: deep-water expertise, proprietary Cenpes R&amp;D center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983309919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☑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Robust infrastructure: 99.8% uptime, modern tech stack, comprehensive security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349970703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FFC000"/>
                          </a:solidFill>
                          <a:latin typeface="+mn-lt"/>
                          <a:ea typeface="Inter" panose="02000503000000020004" pitchFamily="2" charset="0"/>
                        </a:rPr>
                        <a:t>∆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Historical governance issues (pre-2018) require monitoring, but post-reform profile is strong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7622563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☑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Sustainability leadership: UN Global Compact signatory, extensive environmental initiatives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4163372133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0B1A0E18-F5CE-F3D6-F090-11015E02F8F2}"/>
              </a:ext>
            </a:extLst>
          </p:cNvPr>
          <p:cNvGrpSpPr/>
          <p:nvPr/>
        </p:nvGrpSpPr>
        <p:grpSpPr>
          <a:xfrm>
            <a:off x="518400" y="1638000"/>
            <a:ext cx="6516000" cy="2189949"/>
            <a:chOff x="518400" y="1522196"/>
            <a:chExt cx="6516000" cy="218994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C29175F-ACA4-D259-B81F-2207018516B6}"/>
                </a:ext>
              </a:extLst>
            </p:cNvPr>
            <p:cNvSpPr/>
            <p:nvPr/>
          </p:nvSpPr>
          <p:spPr>
            <a:xfrm>
              <a:off x="518400" y="1522196"/>
              <a:ext cx="6516000" cy="21899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Petróleo Brasileiro S.A. (Petrobras)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endParaRPr lang="pt-BR" sz="1200" b="1" dirty="0">
                <a:solidFill>
                  <a:schemeClr val="tx1"/>
                </a:solidFill>
              </a:endParaRPr>
            </a:p>
            <a:p>
              <a:r>
                <a:rPr lang="en-GB" sz="1000" dirty="0">
                  <a:solidFill>
                    <a:schemeClr val="tx1"/>
                  </a:solidFill>
                  <a:latin typeface="Aptos SemiBold" panose="020B0004020202020204" pitchFamily="34" charset="0"/>
                </a:rPr>
                <a:t>Overview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9D573E-A410-2A9B-D6C9-3B2FCCE71F86}"/>
                </a:ext>
              </a:extLst>
            </p:cNvPr>
            <p:cNvSpPr/>
            <p:nvPr/>
          </p:nvSpPr>
          <p:spPr>
            <a:xfrm>
              <a:off x="643505" y="2115862"/>
              <a:ext cx="1476000" cy="43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30000"/>
              </a:schemeClr>
            </a:solidFill>
            <a:ln w="635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Composite score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742</a:t>
              </a:r>
            </a:p>
            <a:p>
              <a:pPr algn="ctr"/>
              <a:r>
                <a:rPr lang="en-GB" sz="600" dirty="0"/>
                <a:t>94% confidence 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76CA9C5-4D4C-B064-D1D7-4F7AF0DF1695}"/>
                </a:ext>
              </a:extLst>
            </p:cNvPr>
            <p:cNvSpPr/>
            <p:nvPr/>
          </p:nvSpPr>
          <p:spPr>
            <a:xfrm>
              <a:off x="2240102" y="2115862"/>
              <a:ext cx="1476000" cy="432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 w="63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Digital maturity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765</a:t>
              </a:r>
            </a:p>
            <a:p>
              <a:pPr algn="ctr"/>
              <a:r>
                <a:rPr lang="en-GB" sz="600" dirty="0"/>
                <a:t> 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CEFF601-1DB0-943F-137C-AB2D739D6EE6}"/>
                </a:ext>
              </a:extLst>
            </p:cNvPr>
            <p:cNvSpPr/>
            <p:nvPr/>
          </p:nvSpPr>
          <p:spPr>
            <a:xfrm>
              <a:off x="3836699" y="2115862"/>
              <a:ext cx="1476000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30000"/>
              </a:schemeClr>
            </a:solidFill>
            <a:ln w="635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Network quality</a:t>
              </a:r>
              <a:br>
                <a:rPr lang="en-GB" sz="800" dirty="0">
                  <a:solidFill>
                    <a:schemeClr val="tx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728</a:t>
              </a:r>
            </a:p>
            <a:p>
              <a:pPr algn="ctr"/>
              <a:r>
                <a:rPr lang="en-GB" sz="600" dirty="0"/>
                <a:t> 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076B41D-D029-B9F4-E4D4-15A43C403B0C}"/>
                </a:ext>
              </a:extLst>
            </p:cNvPr>
            <p:cNvSpPr/>
            <p:nvPr/>
          </p:nvSpPr>
          <p:spPr>
            <a:xfrm>
              <a:off x="5433296" y="2115862"/>
              <a:ext cx="1476000" cy="432000"/>
            </a:xfrm>
            <a:prstGeom prst="rect">
              <a:avLst/>
            </a:prstGeom>
            <a:solidFill>
              <a:schemeClr val="bg2">
                <a:lumMod val="90000"/>
                <a:alpha val="30000"/>
              </a:schemeClr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Infrastructure</a:t>
              </a:r>
              <a:br>
                <a:rPr lang="en-GB" sz="800" dirty="0">
                  <a:solidFill>
                    <a:schemeClr val="tx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733</a:t>
              </a:r>
            </a:p>
            <a:p>
              <a:pPr algn="ctr"/>
              <a:r>
                <a:rPr lang="en-GB" sz="600" dirty="0"/>
                <a:t> 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AA5AD58-B520-64E1-2FBE-1AC4594EC321}"/>
                </a:ext>
              </a:extLst>
            </p:cNvPr>
            <p:cNvSpPr/>
            <p:nvPr/>
          </p:nvSpPr>
          <p:spPr>
            <a:xfrm>
              <a:off x="643505" y="2647086"/>
              <a:ext cx="2016000" cy="432000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0" rIns="0" bIns="0"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Risk tier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Tier 1 – excellent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413EFE9-35F1-519F-C934-7D3B55051E79}"/>
                </a:ext>
              </a:extLst>
            </p:cNvPr>
            <p:cNvSpPr/>
            <p:nvPr/>
          </p:nvSpPr>
          <p:spPr>
            <a:xfrm>
              <a:off x="2768401" y="2647086"/>
              <a:ext cx="2016000" cy="432000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0" rIns="0" bIns="0"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Expected loss ratio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48%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3F6544D-7E16-7E3B-B749-499170A4BDA0}"/>
                </a:ext>
              </a:extLst>
            </p:cNvPr>
            <p:cNvSpPr/>
            <p:nvPr/>
          </p:nvSpPr>
          <p:spPr>
            <a:xfrm>
              <a:off x="4893296" y="2647086"/>
              <a:ext cx="2016000" cy="432000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0" rIns="0" bIns="0"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Rate modifier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0.74X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3BDC56B-A1D2-8354-41B7-CC0CB3C8AFD3}"/>
                </a:ext>
              </a:extLst>
            </p:cNvPr>
            <p:cNvSpPr/>
            <p:nvPr/>
          </p:nvSpPr>
          <p:spPr>
            <a:xfrm>
              <a:off x="643505" y="3178772"/>
              <a:ext cx="6265792" cy="43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0" rIns="0" bIns="0"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Underwriting recommendation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Auto-approve with preferred pricing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4AC4369-1F2C-5BCD-728A-3685B0B5FDCF}"/>
              </a:ext>
            </a:extLst>
          </p:cNvPr>
          <p:cNvSpPr/>
          <p:nvPr/>
        </p:nvSpPr>
        <p:spPr>
          <a:xfrm>
            <a:off x="518400" y="5576007"/>
            <a:ext cx="6516000" cy="43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dirty="0">
                <a:solidFill>
                  <a:schemeClr val="tx1"/>
                </a:solidFill>
                <a:latin typeface="Aptos SemiBold" panose="020B0004020202020204" pitchFamily="34" charset="0"/>
              </a:rPr>
              <a:t>Digital signal deep-dive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F61066-84DF-9EF2-4A2A-8EFEBDB11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274556"/>
              </p:ext>
            </p:extLst>
          </p:nvPr>
        </p:nvGraphicFramePr>
        <p:xfrm>
          <a:off x="643504" y="6140205"/>
          <a:ext cx="6156000" cy="68370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181187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SSL certificate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Current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TLS 1.3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Domain age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Mature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21 years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Uptime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Excellent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99.8% (12 months)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Security headers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Excellent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9 / 10 implemented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90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Technology stack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Modern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React, Liferay DXP, Cloud-based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Mobile optimised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Yes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Responsive design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90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pic>
        <p:nvPicPr>
          <p:cNvPr id="14" name="Graphic 13" descr="Server outline">
            <a:extLst>
              <a:ext uri="{FF2B5EF4-FFF2-40B4-BE49-F238E27FC236}">
                <a16:creationId xmlns:a16="http://schemas.microsoft.com/office/drawing/2014/main" id="{C6EB447C-7F96-9334-3714-F1C42255C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504" y="5888205"/>
            <a:ext cx="252000" cy="252000"/>
          </a:xfrm>
          <a:prstGeom prst="rect">
            <a:avLst/>
          </a:prstGeom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38F7320-AB29-AB86-B0F8-CD7053883F6F}"/>
              </a:ext>
            </a:extLst>
          </p:cNvPr>
          <p:cNvSpPr txBox="1">
            <a:spLocks/>
          </p:cNvSpPr>
          <p:nvPr/>
        </p:nvSpPr>
        <p:spPr>
          <a:xfrm>
            <a:off x="926801" y="5942205"/>
            <a:ext cx="3258000" cy="14400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+mn-lt"/>
                <a:ea typeface="Inter ExtraBold" panose="02000503000000020004" pitchFamily="2" charset="0"/>
              </a:rPr>
              <a:t>Infrastructure signals</a:t>
            </a:r>
            <a:endParaRPr lang="en-GB" sz="800" dirty="0">
              <a:latin typeface="+mn-lt"/>
              <a:ea typeface="Inter" panose="02000503000000020004" pitchFamily="2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8045A28-39CF-8505-72C7-BDABC9420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26020"/>
              </p:ext>
            </p:extLst>
          </p:nvPr>
        </p:nvGraphicFramePr>
        <p:xfrm>
          <a:off x="643504" y="7129909"/>
          <a:ext cx="6156000" cy="68370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181187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238437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Update frequency</a:t>
                      </a:r>
                      <a:b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Daily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Active content management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Governance</a:t>
                      </a:r>
                      <a:b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Strong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Board details, committee structure public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Certifications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Extensive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UN Global Compact, ISO standards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90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Transparency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Exceptional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Full IR disclosure, ESG reporting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Multi language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Yes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EN, PT, ES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Incident response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Documented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Crisis plan templates deployed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87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pic>
        <p:nvPicPr>
          <p:cNvPr id="18" name="Graphic 17" descr="Internet with solid fill">
            <a:extLst>
              <a:ext uri="{FF2B5EF4-FFF2-40B4-BE49-F238E27FC236}">
                <a16:creationId xmlns:a16="http://schemas.microsoft.com/office/drawing/2014/main" id="{F6AB97A5-4624-DF26-79BD-8FE4CEB76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43504" y="6877909"/>
            <a:ext cx="252000" cy="25200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2DA9A53-9435-04A2-D255-51A832FDEC68}"/>
              </a:ext>
            </a:extLst>
          </p:cNvPr>
          <p:cNvSpPr txBox="1">
            <a:spLocks/>
          </p:cNvSpPr>
          <p:nvPr/>
        </p:nvSpPr>
        <p:spPr>
          <a:xfrm>
            <a:off x="926801" y="6931909"/>
            <a:ext cx="3258000" cy="14400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+mn-lt"/>
                <a:ea typeface="Inter ExtraBold" panose="02000503000000020004" pitchFamily="2" charset="0"/>
              </a:rPr>
              <a:t>Content and transparency signals</a:t>
            </a:r>
            <a:endParaRPr lang="en-GB" sz="800" dirty="0">
              <a:latin typeface="+mn-lt"/>
              <a:ea typeface="Inter" panose="02000503000000020004" pitchFamily="2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E842D91-B119-6123-F42D-64175B724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220747"/>
              </p:ext>
            </p:extLst>
          </p:nvPr>
        </p:nvGraphicFramePr>
        <p:xfrm>
          <a:off x="643504" y="8119613"/>
          <a:ext cx="6156000" cy="68370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181187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9869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Backlinks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Exceptional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847K quality backlinks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Citations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High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WEF, Bloomberg, major industry publications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90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Social presence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Strong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LinkedIn 200K +, active engagement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Domain authority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Excellent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82 / 100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Partnerships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Global tier -1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Weatherford, BP, major tech vendors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Suppler network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Diverse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3,500+ evaluated suppliers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87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pic>
        <p:nvPicPr>
          <p:cNvPr id="22" name="Graphic 21" descr="Network diagram outline">
            <a:extLst>
              <a:ext uri="{FF2B5EF4-FFF2-40B4-BE49-F238E27FC236}">
                <a16:creationId xmlns:a16="http://schemas.microsoft.com/office/drawing/2014/main" id="{B64E091E-97F3-1629-D24C-11CA71F0EA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43504" y="7867613"/>
            <a:ext cx="252000" cy="252000"/>
          </a:xfrm>
          <a:prstGeom prst="rect">
            <a:avLst/>
          </a:prstGeom>
        </p:spPr>
      </p:pic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532FEC3-5F08-89AF-10B2-ACD44082D907}"/>
              </a:ext>
            </a:extLst>
          </p:cNvPr>
          <p:cNvSpPr txBox="1">
            <a:spLocks/>
          </p:cNvSpPr>
          <p:nvPr/>
        </p:nvSpPr>
        <p:spPr>
          <a:xfrm>
            <a:off x="926801" y="7921613"/>
            <a:ext cx="3258000" cy="14400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+mn-lt"/>
                <a:ea typeface="Inter ExtraBold" panose="02000503000000020004" pitchFamily="2" charset="0"/>
              </a:rPr>
              <a:t>Network and relationship signals</a:t>
            </a:r>
            <a:endParaRPr lang="en-GB" sz="800" dirty="0">
              <a:latin typeface="+mn-lt"/>
              <a:ea typeface="Inter" panose="02000503000000020004" pitchFamily="2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2CE1354-2526-346D-0877-78AA1EECD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724230"/>
              </p:ext>
            </p:extLst>
          </p:nvPr>
        </p:nvGraphicFramePr>
        <p:xfrm>
          <a:off x="638102" y="9109317"/>
          <a:ext cx="6156000" cy="68370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181187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Digital transformation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Active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2022 – 23 major platform consolidation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Consistency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Excellent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No major gaps in digital presence 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90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Investor relations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Best in class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Dedicated IR portal, quarterly updates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93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Innovation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Strong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Cenpes R&amp;D center, digital initiatives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Compliance history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Clean recent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Post 2018 governance reforms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Sustainability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Leading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Comprehensive ESG, named most sustainable 2018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87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pic>
        <p:nvPicPr>
          <p:cNvPr id="25" name="Graphic 24" descr="Wi-Fi outline">
            <a:extLst>
              <a:ext uri="{FF2B5EF4-FFF2-40B4-BE49-F238E27FC236}">
                <a16:creationId xmlns:a16="http://schemas.microsoft.com/office/drawing/2014/main" id="{D7F34D0B-3B4E-68C0-3A54-1F069CF295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38102" y="8857317"/>
            <a:ext cx="252000" cy="252000"/>
          </a:xfrm>
          <a:prstGeom prst="rect">
            <a:avLst/>
          </a:prstGeom>
        </p:spPr>
      </p:pic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BE36914A-BDB2-A8F9-45D4-29FA9A8A79FC}"/>
              </a:ext>
            </a:extLst>
          </p:cNvPr>
          <p:cNvSpPr txBox="1">
            <a:spLocks/>
          </p:cNvSpPr>
          <p:nvPr/>
        </p:nvSpPr>
        <p:spPr>
          <a:xfrm>
            <a:off x="921399" y="8911317"/>
            <a:ext cx="3258000" cy="14400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+mn-lt"/>
                <a:ea typeface="Inter ExtraBold" panose="02000503000000020004" pitchFamily="2" charset="0"/>
              </a:rPr>
              <a:t>Behavioural and operational signals</a:t>
            </a:r>
            <a:endParaRPr lang="en-GB" sz="800" dirty="0">
              <a:latin typeface="+mn-lt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78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F4A8A-73EA-A9A1-FE64-5F5DD2FA2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1B676E35-FB2C-5537-5211-55FFF1A2C38D}"/>
              </a:ext>
            </a:extLst>
          </p:cNvPr>
          <p:cNvSpPr txBox="1">
            <a:spLocks/>
          </p:cNvSpPr>
          <p:nvPr/>
        </p:nvSpPr>
        <p:spPr>
          <a:xfrm>
            <a:off x="518400" y="712800"/>
            <a:ext cx="5408468" cy="720000"/>
          </a:xfrm>
          <a:prstGeom prst="rect">
            <a:avLst/>
          </a:prstGeom>
        </p:spPr>
        <p:txBody>
          <a:bodyPr lIns="0" anchor="b"/>
          <a:lstStyle>
            <a:lvl1pPr algn="l" defTabSz="4404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27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dirty="0"/>
              <a:t>Digital Signal Intelligence</a:t>
            </a:r>
          </a:p>
          <a:p>
            <a:r>
              <a:rPr lang="en-GB" sz="1600" dirty="0"/>
              <a:t>Client Analysis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F73E391-4144-5BBE-A546-8834818217C2}"/>
              </a:ext>
            </a:extLst>
          </p:cNvPr>
          <p:cNvSpPr txBox="1">
            <a:spLocks/>
          </p:cNvSpPr>
          <p:nvPr/>
        </p:nvSpPr>
        <p:spPr>
          <a:xfrm>
            <a:off x="519728" y="1436818"/>
            <a:ext cx="6516000" cy="155821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Aptos" panose="020B0004020202020204" pitchFamily="34" charset="0"/>
                <a:ea typeface="Inter" panose="02000503000000020004" pitchFamily="2" charset="0"/>
              </a:rPr>
              <a:t>Sample Comprehensive Risk Assessment Report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58E1E1-5319-9629-4808-85280FA1A0F2}"/>
              </a:ext>
            </a:extLst>
          </p:cNvPr>
          <p:cNvSpPr/>
          <p:nvPr/>
        </p:nvSpPr>
        <p:spPr>
          <a:xfrm>
            <a:off x="518400" y="1638000"/>
            <a:ext cx="6516000" cy="363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dirty="0">
                <a:solidFill>
                  <a:schemeClr val="tx1"/>
                </a:solidFill>
                <a:latin typeface="Aptos SemiBold" panose="020B0004020202020204" pitchFamily="34" charset="0"/>
              </a:rPr>
              <a:t>Coverage specific recommendations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124DCF-316B-74E1-A1BD-EAFC044C5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848397"/>
              </p:ext>
            </p:extLst>
          </p:nvPr>
        </p:nvGraphicFramePr>
        <p:xfrm>
          <a:off x="644720" y="1933965"/>
          <a:ext cx="6156002" cy="7768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158681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893320">
                  <a:extLst>
                    <a:ext uri="{9D8B030D-6E8A-4147-A177-3AD203B41FA5}">
                      <a16:colId xmlns:a16="http://schemas.microsoft.com/office/drawing/2014/main" val="531569771"/>
                    </a:ext>
                  </a:extLst>
                </a:gridCol>
                <a:gridCol w="104216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757841">
                  <a:extLst>
                    <a:ext uri="{9D8B030D-6E8A-4147-A177-3AD203B41FA5}">
                      <a16:colId xmlns:a16="http://schemas.microsoft.com/office/drawing/2014/main" val="21963493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D&amp;O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/>
                        </a:solidFill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6091340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Signal score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755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Preferred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16605"/>
                  </a:ext>
                </a:extLst>
              </a:tr>
              <a:tr h="204909">
                <a:tc gridSpan="7"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Exceptional governance transparency post-2018 reforms. Full board disclosure, committee structures, crisis management templates. Strong IR practices indicate mature governance culture.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434649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Indicative premium: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$285K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Rate modifier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0.72X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319036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26427B-285B-CA2E-3B99-3D40B34F0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187627"/>
              </p:ext>
            </p:extLst>
          </p:nvPr>
        </p:nvGraphicFramePr>
        <p:xfrm>
          <a:off x="644720" y="2756136"/>
          <a:ext cx="6156002" cy="7768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158681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893320">
                  <a:extLst>
                    <a:ext uri="{9D8B030D-6E8A-4147-A177-3AD203B41FA5}">
                      <a16:colId xmlns:a16="http://schemas.microsoft.com/office/drawing/2014/main" val="531569771"/>
                    </a:ext>
                  </a:extLst>
                </a:gridCol>
                <a:gridCol w="104216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757841">
                  <a:extLst>
                    <a:ext uri="{9D8B030D-6E8A-4147-A177-3AD203B41FA5}">
                      <a16:colId xmlns:a16="http://schemas.microsoft.com/office/drawing/2014/main" val="21963493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CYBER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/>
                        </a:solidFill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6091340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Signal score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738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Approve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16605"/>
                  </a:ext>
                </a:extLst>
              </a:tr>
              <a:tr h="204909">
                <a:tc gridSpan="7"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Modern infrastructure with strong security posture. Recent platform consolidation demonstrates operational discipline. 9/10 security headers, TLS 1.3, 99.8% uptime.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434649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Indicative premium: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$420K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Rate modifier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0.76X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319036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4A8BF-AB54-9C84-E127-AC9855223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612298"/>
              </p:ext>
            </p:extLst>
          </p:nvPr>
        </p:nvGraphicFramePr>
        <p:xfrm>
          <a:off x="644720" y="3578307"/>
          <a:ext cx="6156002" cy="7768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158681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893320">
                  <a:extLst>
                    <a:ext uri="{9D8B030D-6E8A-4147-A177-3AD203B41FA5}">
                      <a16:colId xmlns:a16="http://schemas.microsoft.com/office/drawing/2014/main" val="531569771"/>
                    </a:ext>
                  </a:extLst>
                </a:gridCol>
                <a:gridCol w="104216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757841">
                  <a:extLst>
                    <a:ext uri="{9D8B030D-6E8A-4147-A177-3AD203B41FA5}">
                      <a16:colId xmlns:a16="http://schemas.microsoft.com/office/drawing/2014/main" val="21963493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CREDIT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/>
                        </a:solidFill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6091340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Signal score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728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Approve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16605"/>
                  </a:ext>
                </a:extLst>
              </a:tr>
              <a:tr h="204909">
                <a:tc gridSpan="7"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State-backed with strong network position. Tier-1 partnerships (Weatherford, BP). Diverse supplier ecosystem. Active investment in future production (FPSOs, pre-salt)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434649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Indicative premium: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$175K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Rate modifier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0.78X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319036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6A24923-5F13-6ACF-C9AB-1BCBDC77F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243791"/>
              </p:ext>
            </p:extLst>
          </p:nvPr>
        </p:nvGraphicFramePr>
        <p:xfrm>
          <a:off x="644720" y="4400478"/>
          <a:ext cx="6156002" cy="7768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158681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893320">
                  <a:extLst>
                    <a:ext uri="{9D8B030D-6E8A-4147-A177-3AD203B41FA5}">
                      <a16:colId xmlns:a16="http://schemas.microsoft.com/office/drawing/2014/main" val="531569771"/>
                    </a:ext>
                  </a:extLst>
                </a:gridCol>
                <a:gridCol w="104216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757841">
                  <a:extLst>
                    <a:ext uri="{9D8B030D-6E8A-4147-A177-3AD203B41FA5}">
                      <a16:colId xmlns:a16="http://schemas.microsoft.com/office/drawing/2014/main" val="21963493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POLITICAL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/>
                        </a:solidFill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6091340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Signal score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712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Approve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16605"/>
                  </a:ext>
                </a:extLst>
              </a:tr>
              <a:tr h="204909">
                <a:tc gridSpan="7"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Government ownership provides stability but also exposure to political changes. Strong international presence (18 countries) diversifies risk. Monitoring recommended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434649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Indicative premium: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$340K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Rate modifier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0.82X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319036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65F6D2E-2449-2AB6-F8F0-D4FC52100BC1}"/>
              </a:ext>
            </a:extLst>
          </p:cNvPr>
          <p:cNvSpPr/>
          <p:nvPr/>
        </p:nvSpPr>
        <p:spPr>
          <a:xfrm>
            <a:off x="518400" y="5345906"/>
            <a:ext cx="6516000" cy="230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dirty="0">
                <a:solidFill>
                  <a:schemeClr val="tx1"/>
                </a:solidFill>
                <a:latin typeface="Aptos SemiBold" panose="020B0004020202020204" pitchFamily="34" charset="0"/>
              </a:rPr>
              <a:t>Portfolio management insights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4E84BF-94F9-3507-A5C3-D5535C00B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070466"/>
              </p:ext>
            </p:extLst>
          </p:nvPr>
        </p:nvGraphicFramePr>
        <p:xfrm>
          <a:off x="643505" y="5595187"/>
          <a:ext cx="6265791" cy="91440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50905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5914886">
                  <a:extLst>
                    <a:ext uri="{9D8B030D-6E8A-4147-A177-3AD203B41FA5}">
                      <a16:colId xmlns:a16="http://schemas.microsoft.com/office/drawing/2014/main" val="3935033781"/>
                    </a:ext>
                  </a:extLst>
                </a:gridCol>
              </a:tblGrid>
              <a:tr h="12894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Digital maturity trajectory strongly positive (2022-2023 transformation)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Network quality consistently high across all metrics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3920993623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Governance profile significantly improved post-2018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2288398457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Technology investment indicates long-term stability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983309919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ESG leadership suggests stakeholder management capability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349970703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21D36E75-040F-BC78-332B-01E7EB9199E2}"/>
              </a:ext>
            </a:extLst>
          </p:cNvPr>
          <p:cNvSpPr/>
          <p:nvPr/>
        </p:nvSpPr>
        <p:spPr>
          <a:xfrm>
            <a:off x="643504" y="6630831"/>
            <a:ext cx="4624455" cy="999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GB" sz="800" dirty="0">
                <a:solidFill>
                  <a:schemeClr val="tx1"/>
                </a:solidFill>
              </a:rPr>
              <a:t>Automated Monitoring Triggers</a:t>
            </a:r>
            <a:endParaRPr lang="en-GB" sz="600" dirty="0">
              <a:solidFill>
                <a:schemeClr val="tx1"/>
              </a:solidFill>
            </a:endParaRPr>
          </a:p>
          <a:p>
            <a:endParaRPr lang="en-GB" sz="6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Weekly score recalculation with 15-point threshold for re-review 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Monthly network quality assessment for partnership changes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Real-time security incident monitoring via threat intelligence feeds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Quarterly governance disclosure review for transparency shifts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Continuous news monitoring for material operational events</a:t>
            </a:r>
          </a:p>
        </p:txBody>
      </p:sp>
    </p:spTree>
    <p:extLst>
      <p:ext uri="{BB962C8B-B14F-4D97-AF65-F5344CB8AC3E}">
        <p14:creationId xmlns:p14="http://schemas.microsoft.com/office/powerpoint/2010/main" val="3861668482"/>
      </p:ext>
    </p:extLst>
  </p:cSld>
  <p:clrMapOvr>
    <a:masterClrMapping/>
  </p:clrMapOvr>
</p:sld>
</file>

<file path=ppt/theme/theme1.xml><?xml version="1.0" encoding="utf-8"?>
<a:theme xmlns:a="http://schemas.openxmlformats.org/drawingml/2006/main" name="London Digital Hub">
  <a:themeElements>
    <a:clrScheme name="TheLondonDigitalHub_Colours">
      <a:dk1>
        <a:srgbClr val="000000"/>
      </a:dk1>
      <a:lt1>
        <a:srgbClr val="FFFFFE"/>
      </a:lt1>
      <a:dk2>
        <a:srgbClr val="182EF5"/>
      </a:dk2>
      <a:lt2>
        <a:srgbClr val="FFFFFE"/>
      </a:lt2>
      <a:accent1>
        <a:srgbClr val="040D62"/>
      </a:accent1>
      <a:accent2>
        <a:srgbClr val="FA00FF"/>
      </a:accent2>
      <a:accent3>
        <a:srgbClr val="FF2358"/>
      </a:accent3>
      <a:accent4>
        <a:srgbClr val="00E217"/>
      </a:accent4>
      <a:accent5>
        <a:srgbClr val="828DFA"/>
      </a:accent5>
      <a:accent6>
        <a:srgbClr val="FC8FFF"/>
      </a:accent6>
      <a:hlink>
        <a:srgbClr val="040D62"/>
      </a:hlink>
      <a:folHlink>
        <a:srgbClr val="FA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ondon Digital Hub Masterdeck.potx" id="{74CF7874-494A-43BC-941A-8E44A5526054}" vid="{79D31DF9-E07A-479A-B93D-ABB8CAE97C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E207DE930E2948B682F65F5AE37898" ma:contentTypeVersion="16" ma:contentTypeDescription="Create a new document." ma:contentTypeScope="" ma:versionID="d27a2af0e4b6315d90463413abf6615a">
  <xsd:schema xmlns:xsd="http://www.w3.org/2001/XMLSchema" xmlns:xs="http://www.w3.org/2001/XMLSchema" xmlns:p="http://schemas.microsoft.com/office/2006/metadata/properties" xmlns:ns1="http://schemas.microsoft.com/sharepoint/v3" xmlns:ns2="d67544f5-4e67-43d0-831b-ab10261cebd3" xmlns:ns3="e14b7f66-fced-4a15-a23e-050a92e9782a" targetNamespace="http://schemas.microsoft.com/office/2006/metadata/properties" ma:root="true" ma:fieldsID="5f4d79796445faf2d8a7eb646c4c50cb" ns1:_="" ns2:_="" ns3:_="">
    <xsd:import namespace="http://schemas.microsoft.com/sharepoint/v3"/>
    <xsd:import namespace="d67544f5-4e67-43d0-831b-ab10261cebd3"/>
    <xsd:import namespace="e14b7f66-fced-4a15-a23e-050a92e978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7544f5-4e67-43d0-831b-ab10261ceb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a5a22fa6-c0c5-4d3c-b32b-2ee1789708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4b7f66-fced-4a15-a23e-050a92e9782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f6c2df5-f636-4efb-850c-98958d2f4430}" ma:internalName="TaxCatchAll" ma:showField="CatchAllData" ma:web="e14b7f66-fced-4a15-a23e-050a92e978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e14b7f66-fced-4a15-a23e-050a92e9782a" xsi:nil="true"/>
    <lcf76f155ced4ddcb4097134ff3c332f xmlns="d67544f5-4e67-43d0-831b-ab10261cebd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DD77558-89B1-4679-9306-1C4C48A5D3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DC3705-DC8F-4D95-8375-8CAB6A7717B3}">
  <ds:schemaRefs>
    <ds:schemaRef ds:uri="d67544f5-4e67-43d0-831b-ab10261cebd3"/>
    <ds:schemaRef ds:uri="e14b7f66-fced-4a15-a23e-050a92e978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707FAA4-5609-43CD-9FDD-2DBD8D424CC1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terms/"/>
    <ds:schemaRef ds:uri="e14b7f66-fced-4a15-a23e-050a92e9782a"/>
    <ds:schemaRef ds:uri="d67544f5-4e67-43d0-831b-ab10261cebd3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80275</TotalTime>
  <Words>661</Words>
  <Application>Microsoft Office PowerPoint</Application>
  <PresentationFormat>Custom</PresentationFormat>
  <Paragraphs>172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4" baseType="lpstr">
      <vt:lpstr>Aptos</vt:lpstr>
      <vt:lpstr>Aptos Display</vt:lpstr>
      <vt:lpstr>Aptos ExtraBold</vt:lpstr>
      <vt:lpstr>Aptos SemiBold</vt:lpstr>
      <vt:lpstr>Arial</vt:lpstr>
      <vt:lpstr>Calibri</vt:lpstr>
      <vt:lpstr>Inter</vt:lpstr>
      <vt:lpstr>Inter ExtraBold</vt:lpstr>
      <vt:lpstr>Inter Light</vt:lpstr>
      <vt:lpstr>Inter SemiBold</vt:lpstr>
      <vt:lpstr>Mulish SemiBold</vt:lpstr>
      <vt:lpstr>London Digital Hub</vt:lpstr>
      <vt:lpstr>PowerPoint Presentation</vt:lpstr>
      <vt:lpstr>PowerPoint Presentation</vt:lpstr>
    </vt:vector>
  </TitlesOfParts>
  <Company>MS Amlin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Walker, John</dc:creator>
  <cp:lastModifiedBy>John Walker</cp:lastModifiedBy>
  <cp:revision>1037</cp:revision>
  <dcterms:created xsi:type="dcterms:W3CDTF">2024-02-19T13:56:32Z</dcterms:created>
  <dcterms:modified xsi:type="dcterms:W3CDTF">2025-11-19T10:20:42Z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0x01010047E207DE930E2948B682F65F5AE37898</vt:lpwstr>
  </property>
  <property fmtid="{D5CDD505-2E9C-101B-9397-08002B2CF9AE}" pid="3" name="MSIP_Label_4d2f8e63-9d7b-42c2-ab15-593a0750883c_Enabled">
    <vt:lpwstr>true</vt:lpwstr>
  </property>
  <property fmtid="{D5CDD505-2E9C-101B-9397-08002B2CF9AE}" pid="4" name="MSIP_Label_4d2f8e63-9d7b-42c2-ab15-593a0750883c_SetDate">
    <vt:lpwstr>2024-02-19T19:10:02Z</vt:lpwstr>
  </property>
  <property fmtid="{D5CDD505-2E9C-101B-9397-08002B2CF9AE}" pid="5" name="MSIP_Label_4d2f8e63-9d7b-42c2-ab15-593a0750883c_Method">
    <vt:lpwstr>Privileged</vt:lpwstr>
  </property>
  <property fmtid="{D5CDD505-2E9C-101B-9397-08002B2CF9AE}" pid="6" name="MSIP_Label_4d2f8e63-9d7b-42c2-ab15-593a0750883c_Name">
    <vt:lpwstr>Classification - Strictly Confidential</vt:lpwstr>
  </property>
  <property fmtid="{D5CDD505-2E9C-101B-9397-08002B2CF9AE}" pid="7" name="MSIP_Label_4d2f8e63-9d7b-42c2-ab15-593a0750883c_SiteId">
    <vt:lpwstr>1c7b7e59-27b7-4538-9083-6757584d0420</vt:lpwstr>
  </property>
  <property fmtid="{D5CDD505-2E9C-101B-9397-08002B2CF9AE}" pid="8" name="MSIP_Label_4d2f8e63-9d7b-42c2-ab15-593a0750883c_ActionId">
    <vt:lpwstr>f28ff661-2ebb-42e5-8097-9bde7789551b</vt:lpwstr>
  </property>
  <property fmtid="{D5CDD505-2E9C-101B-9397-08002B2CF9AE}" pid="9" name="MSIP_Label_4d2f8e63-9d7b-42c2-ab15-593a0750883c_ContentBits">
    <vt:lpwstr>2</vt:lpwstr>
  </property>
  <property fmtid="{D5CDD505-2E9C-101B-9397-08002B2CF9AE}" pid="10" name="ClassificationContentMarkingFooterLocations">
    <vt:lpwstr>Office Theme:10\1_Office Theme:7\2_Office Theme:10</vt:lpwstr>
  </property>
  <property fmtid="{D5CDD505-2E9C-101B-9397-08002B2CF9AE}" pid="11" name="ClassificationContentMarkingFooterText">
    <vt:lpwstr>Strictly Confidential</vt:lpwstr>
  </property>
  <property fmtid="{D5CDD505-2E9C-101B-9397-08002B2CF9AE}" pid="12" name="MediaServiceImageTags">
    <vt:lpwstr/>
  </property>
</Properties>
</file>