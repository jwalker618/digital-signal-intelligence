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1" r:id="rId4"/>
  </p:sldMasterIdLst>
  <p:notesMasterIdLst>
    <p:notesMasterId r:id="rId7"/>
  </p:notesMasterIdLst>
  <p:handoutMasterIdLst>
    <p:handoutMasterId r:id="rId8"/>
  </p:handoutMasterIdLst>
  <p:sldIdLst>
    <p:sldId id="510" r:id="rId5"/>
    <p:sldId id="512" r:id="rId6"/>
  </p:sldIdLst>
  <p:sldSz cx="7559675" cy="1069181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7DE3"/>
    <a:srgbClr val="18206C"/>
    <a:srgbClr val="FF2358"/>
    <a:srgbClr val="A3ABFB"/>
    <a:srgbClr val="D1D5FD"/>
    <a:srgbClr val="7482F9"/>
    <a:srgbClr val="E6E8FE"/>
    <a:srgbClr val="B1B8FC"/>
    <a:srgbClr val="FFFFFE"/>
    <a:srgbClr val="0121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4660" autoAdjust="0"/>
  </p:normalViewPr>
  <p:slideViewPr>
    <p:cSldViewPr snapToGrid="0">
      <p:cViewPr>
        <p:scale>
          <a:sx n="150" d="100"/>
          <a:sy n="150" d="100"/>
        </p:scale>
        <p:origin x="254" y="-57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Walker" userId="ff1ba5ae-6b20-4808-8e9a-a67c52eb4b3b" providerId="ADAL" clId="{F0C435E3-6B21-47BE-A8EB-24AB796B47D1}"/>
    <pc:docChg chg="delSld">
      <pc:chgData name="John Walker" userId="ff1ba5ae-6b20-4808-8e9a-a67c52eb4b3b" providerId="ADAL" clId="{F0C435E3-6B21-47BE-A8EB-24AB796B47D1}" dt="2025-11-19T10:20:27.707" v="0" actId="47"/>
      <pc:docMkLst>
        <pc:docMk/>
      </pc:docMkLst>
      <pc:sldChg chg="del">
        <pc:chgData name="John Walker" userId="ff1ba5ae-6b20-4808-8e9a-a67c52eb4b3b" providerId="ADAL" clId="{F0C435E3-6B21-47BE-A8EB-24AB796B47D1}" dt="2025-11-19T10:20:27.707" v="0" actId="47"/>
        <pc:sldMkLst>
          <pc:docMk/>
          <pc:sldMk cId="1752787901" sldId="509"/>
        </pc:sldMkLst>
      </pc:sldChg>
      <pc:sldChg chg="del">
        <pc:chgData name="John Walker" userId="ff1ba5ae-6b20-4808-8e9a-a67c52eb4b3b" providerId="ADAL" clId="{F0C435E3-6B21-47BE-A8EB-24AB796B47D1}" dt="2025-11-19T10:20:27.707" v="0" actId="47"/>
        <pc:sldMkLst>
          <pc:docMk/>
          <pc:sldMk cId="3861668482" sldId="51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E000B96-7A6E-97A2-5484-E9C6F067F6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8A3DFD-521F-486F-27C7-BCDA930FC87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90CD6F-CA6B-467B-B77F-7D5376F958BA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7ADB52-810F-05A3-397F-1F6C6B7E92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C1889-0CAF-B629-9824-228674469D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3898A8-228D-4EAD-A75E-A3F74B1A2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2263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9E5D94-6377-4C7C-A115-BB5DD728E4E3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B34A4D-4358-424A-AE50-E3D9CF6AE5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6250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BB1D2-722F-54AA-32D8-AEC7D4D85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2CF786-4D8F-B514-005C-3410BC85F6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F257B3-5640-5510-7612-E51CA98533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0D0F1-F0DA-981F-4209-AE54B3ED57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34A4D-4358-424A-AE50-E3D9CF6AE5F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8771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5FD16-EE31-E072-331F-4EB6A7518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8C0184-0240-EE98-4381-66521560EC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871EA8-1570-6FDD-1508-254B8ACC2B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745082-29F1-E462-4372-9FAAF6D82A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34A4D-4358-424A-AE50-E3D9CF6AE5FA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1123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Title">
    <p:bg>
      <p:bgPr>
        <a:gradFill flip="none" rotWithShape="1">
          <a:gsLst>
            <a:gs pos="0">
              <a:schemeClr val="accent1"/>
            </a:gs>
            <a:gs pos="19000">
              <a:schemeClr val="accent1">
                <a:lumMod val="51000"/>
                <a:lumOff val="49000"/>
              </a:schemeClr>
            </a:gs>
            <a:gs pos="36000">
              <a:schemeClr val="accent1"/>
            </a:gs>
            <a:gs pos="100000">
              <a:schemeClr val="accent1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4A6412-D4B8-AD8E-F9F5-4F764BB3BE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9730" y="9832829"/>
            <a:ext cx="796891" cy="5692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13th August 2025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273A38-8D5E-6267-EE7C-B8DB71C6C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04144" y="9840429"/>
            <a:ext cx="2551390" cy="5692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International Assessment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708C64C4-2205-75B3-404A-E7C8607B0C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2243" y="4633119"/>
            <a:ext cx="4415811" cy="3142744"/>
          </a:xfrm>
        </p:spPr>
        <p:txBody>
          <a:bodyPr>
            <a:noAutofit/>
          </a:bodyPr>
          <a:lstStyle>
            <a:lvl1pPr marL="0" indent="0">
              <a:buNone/>
              <a:defRPr sz="963" b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220219" indent="0">
              <a:buNone/>
              <a:defRPr/>
            </a:lvl2pPr>
          </a:lstStyle>
          <a:p>
            <a:pPr lvl="0"/>
            <a:r>
              <a:rPr lang="en-US"/>
              <a:t>Insert heading</a:t>
            </a:r>
            <a:endParaRPr lang="en-GB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066E9C71-3359-2F29-AD3A-A95D3E1BF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243" y="3213405"/>
            <a:ext cx="6520220" cy="1347000"/>
          </a:xfrm>
        </p:spPr>
        <p:txBody>
          <a:bodyPr>
            <a:noAutofit/>
          </a:bodyPr>
          <a:lstStyle>
            <a:lvl1pPr>
              <a:defRPr sz="260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F275E08-D541-47C9-DF61-242F6A0BFDE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" y="-91101"/>
            <a:ext cx="89007" cy="182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44041" tIns="22021" rIns="44041" bIns="22021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 sz="867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F4157EC-F30D-2A25-DFA1-256C8AC91F33}"/>
              </a:ext>
            </a:extLst>
          </p:cNvPr>
          <p:cNvGrpSpPr/>
          <p:nvPr userDrawn="1"/>
        </p:nvGrpSpPr>
        <p:grpSpPr>
          <a:xfrm>
            <a:off x="5871646" y="212499"/>
            <a:ext cx="1150818" cy="576000"/>
            <a:chOff x="5054135" y="958951"/>
            <a:chExt cx="1404852" cy="36946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F9069F6-0BFC-480F-A2A5-6AA0C1CC48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 preferRelativeResize="0">
              <a:picLocks/>
            </p:cNvPicPr>
            <p:nvPr userDrawn="1"/>
          </p:nvPicPr>
          <p:blipFill rotWithShape="1">
            <a:blip r:embed="rId2">
              <a:duotone>
                <a:prstClr val="black"/>
                <a:schemeClr val="tx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12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95" t="9360" r="56621" b="59313"/>
            <a:stretch/>
          </p:blipFill>
          <p:spPr>
            <a:xfrm>
              <a:off x="5054135" y="958951"/>
              <a:ext cx="703147" cy="369460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FDAAD2C-99CC-DA0F-9038-F3296D5E412E}"/>
                </a:ext>
              </a:extLst>
            </p:cNvPr>
            <p:cNvSpPr txBox="1"/>
            <p:nvPr userDrawn="1"/>
          </p:nvSpPr>
          <p:spPr>
            <a:xfrm>
              <a:off x="5644339" y="1054844"/>
              <a:ext cx="814648" cy="177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ulish SemiBold" pitchFamily="2" charset="0"/>
                  <a:ea typeface="Inter" panose="02000503000000020004" pitchFamily="2" charset="0"/>
                </a:rPr>
                <a:t>MSIG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2300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  <p15:guide id="3" pos="328" userDrawn="1">
          <p15:clr>
            <a:srgbClr val="FBAE40"/>
          </p15:clr>
        </p15:guide>
        <p15:guide id="4" pos="4434" userDrawn="1">
          <p15:clr>
            <a:srgbClr val="FBAE40"/>
          </p15:clr>
        </p15:guide>
        <p15:guide id="5" orient="horz" pos="645" userDrawn="1">
          <p15:clr>
            <a:srgbClr val="FBAE40"/>
          </p15:clr>
        </p15:guide>
        <p15:guide id="6" orient="horz" pos="609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ster Title">
    <p:bg>
      <p:bgPr>
        <a:gradFill flip="none" rotWithShape="1">
          <a:gsLst>
            <a:gs pos="0">
              <a:schemeClr val="accent1"/>
            </a:gs>
            <a:gs pos="19000">
              <a:schemeClr val="accent1">
                <a:lumMod val="51000"/>
                <a:lumOff val="49000"/>
              </a:schemeClr>
            </a:gs>
            <a:gs pos="36000">
              <a:schemeClr val="accent1"/>
            </a:gs>
            <a:gs pos="100000">
              <a:schemeClr val="accent1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2">
            <a:extLst>
              <a:ext uri="{FF2B5EF4-FFF2-40B4-BE49-F238E27FC236}">
                <a16:creationId xmlns:a16="http://schemas.microsoft.com/office/drawing/2014/main" id="{1C4134FD-2197-2DEF-0B24-B39ACB94E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42459" y="9833102"/>
            <a:ext cx="797488" cy="5692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DF9FF28-5A91-4D68-B6A1-07C42CEB1AA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3BB903F4-CB3E-6579-89EE-5E490F4953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79839" y="2472428"/>
            <a:ext cx="3259125" cy="1336927"/>
          </a:xfrm>
        </p:spPr>
        <p:txBody>
          <a:bodyPr>
            <a:normAutofit/>
          </a:bodyPr>
          <a:lstStyle>
            <a:lvl1pPr marL="0" indent="0">
              <a:buNone/>
              <a:defRPr sz="675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/>
              <a:t>Paragraph</a:t>
            </a:r>
            <a:endParaRPr lang="en-GB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375EBC2-3CA8-004C-0AD1-6792DD9B0C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9839" y="3934354"/>
            <a:ext cx="3259125" cy="1336927"/>
          </a:xfrm>
        </p:spPr>
        <p:txBody>
          <a:bodyPr>
            <a:normAutofit/>
          </a:bodyPr>
          <a:lstStyle>
            <a:lvl1pPr marL="0" indent="0">
              <a:buNone/>
              <a:defRPr sz="675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/>
              <a:t>Paragraph</a:t>
            </a:r>
            <a:endParaRPr lang="en-GB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4729070E-157E-D5F6-996A-1A79F14FC58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79840" y="5396282"/>
            <a:ext cx="3259125" cy="1336927"/>
          </a:xfrm>
        </p:spPr>
        <p:txBody>
          <a:bodyPr>
            <a:normAutofit/>
          </a:bodyPr>
          <a:lstStyle>
            <a:lvl1pPr marL="0" indent="0">
              <a:buNone/>
              <a:defRPr sz="675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/>
              <a:t>Paragraph</a:t>
            </a:r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9472245-FCA0-94D8-CA3A-CE59D5F2085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79839" y="6858209"/>
            <a:ext cx="3259125" cy="1336927"/>
          </a:xfrm>
        </p:spPr>
        <p:txBody>
          <a:bodyPr>
            <a:normAutofit/>
          </a:bodyPr>
          <a:lstStyle>
            <a:lvl1pPr marL="0" indent="0">
              <a:buNone/>
              <a:defRPr sz="675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/>
              <a:t>Paragraph</a:t>
            </a:r>
            <a:endParaRPr lang="en-GB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AB355EA4-D08D-E10C-4CE5-B1BA3C89CF0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79839" y="8320135"/>
            <a:ext cx="3259125" cy="1336927"/>
          </a:xfrm>
        </p:spPr>
        <p:txBody>
          <a:bodyPr>
            <a:normAutofit/>
          </a:bodyPr>
          <a:lstStyle>
            <a:lvl1pPr marL="0" indent="0">
              <a:buNone/>
              <a:defRPr sz="675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/>
              <a:t>Paragraph</a:t>
            </a:r>
            <a:endParaRPr lang="en-GB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B8C858B8-D299-5D16-E508-3AE3808054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56985" y="2472428"/>
            <a:ext cx="386524" cy="1336927"/>
          </a:xfrm>
        </p:spPr>
        <p:txBody>
          <a:bodyPr>
            <a:normAutofit/>
          </a:bodyPr>
          <a:lstStyle>
            <a:lvl1pPr marL="0" indent="0">
              <a:buNone/>
              <a:defRPr sz="675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/>
              <a:t>01 )</a:t>
            </a:r>
            <a:endParaRPr lang="en-GB"/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29E9C9ED-B818-327A-A71B-0DAD2E751F4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56985" y="3934354"/>
            <a:ext cx="386524" cy="1336927"/>
          </a:xfrm>
        </p:spPr>
        <p:txBody>
          <a:bodyPr>
            <a:normAutofit/>
          </a:bodyPr>
          <a:lstStyle>
            <a:lvl1pPr marL="0" indent="0">
              <a:buNone/>
              <a:defRPr sz="675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/>
              <a:t>02 )</a:t>
            </a:r>
            <a:endParaRPr lang="en-GB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7E183715-1477-3114-A695-285EB6AAAA1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56985" y="5396282"/>
            <a:ext cx="386524" cy="1336927"/>
          </a:xfrm>
        </p:spPr>
        <p:txBody>
          <a:bodyPr>
            <a:normAutofit/>
          </a:bodyPr>
          <a:lstStyle>
            <a:lvl1pPr marL="0" indent="0">
              <a:buNone/>
              <a:defRPr sz="675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/>
              <a:t>03 )</a:t>
            </a:r>
            <a:endParaRPr lang="en-GB"/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7DAE46BE-947B-4E3A-4B50-CE62BD909C4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56985" y="6858209"/>
            <a:ext cx="386524" cy="1336927"/>
          </a:xfrm>
        </p:spPr>
        <p:txBody>
          <a:bodyPr>
            <a:normAutofit/>
          </a:bodyPr>
          <a:lstStyle>
            <a:lvl1pPr marL="0" indent="0">
              <a:buNone/>
              <a:defRPr sz="675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/>
              <a:t>04 )</a:t>
            </a:r>
            <a:endParaRPr lang="en-GB"/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F93EC4FA-863D-07EE-FAAF-20EBF20ADAA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356985" y="8320135"/>
            <a:ext cx="386524" cy="1336927"/>
          </a:xfrm>
        </p:spPr>
        <p:txBody>
          <a:bodyPr>
            <a:normAutofit/>
          </a:bodyPr>
          <a:lstStyle>
            <a:lvl1pPr marL="0" indent="0">
              <a:buNone/>
              <a:defRPr sz="675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/>
              <a:t>05 )</a:t>
            </a:r>
            <a:endParaRPr lang="en-GB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F63028BA-1913-53D0-87F6-41ACE61A962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33749" y="1027088"/>
            <a:ext cx="4805214" cy="971529"/>
          </a:xfrm>
        </p:spPr>
        <p:txBody>
          <a:bodyPr anchor="ctr">
            <a:normAutofit/>
          </a:bodyPr>
          <a:lstStyle>
            <a:lvl1pPr marL="0" indent="0">
              <a:buNone/>
              <a:defRPr sz="1927">
                <a:solidFill>
                  <a:schemeClr val="bg1"/>
                </a:solidFill>
                <a:latin typeface="+mj-lt"/>
                <a:ea typeface="Inter ExtraBold" panose="02000503000000020004" pitchFamily="2" charset="0"/>
              </a:defRPr>
            </a:lvl1pPr>
          </a:lstStyle>
          <a:p>
            <a:pPr lvl="0"/>
            <a:r>
              <a:rPr lang="en-US" dirty="0"/>
              <a:t>Contents</a:t>
            </a:r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F2E6A2C-8A39-9661-ACFC-3D8FDA55B8ED}"/>
              </a:ext>
            </a:extLst>
          </p:cNvPr>
          <p:cNvGrpSpPr/>
          <p:nvPr userDrawn="1"/>
        </p:nvGrpSpPr>
        <p:grpSpPr>
          <a:xfrm>
            <a:off x="5871646" y="212499"/>
            <a:ext cx="1150818" cy="576000"/>
            <a:chOff x="5054135" y="958951"/>
            <a:chExt cx="1404852" cy="369460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0E32B0F-2A87-B4C5-0776-33819851B1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 preferRelativeResize="0">
              <a:picLocks/>
            </p:cNvPicPr>
            <p:nvPr userDrawn="1"/>
          </p:nvPicPr>
          <p:blipFill rotWithShape="1">
            <a:blip r:embed="rId2">
              <a:duotone>
                <a:prstClr val="black"/>
                <a:schemeClr val="tx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12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95" t="9360" r="56621" b="59313"/>
            <a:stretch/>
          </p:blipFill>
          <p:spPr>
            <a:xfrm>
              <a:off x="5054135" y="958951"/>
              <a:ext cx="703147" cy="36946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5631845-33EA-6796-5F9F-7297651C05C3}"/>
                </a:ext>
              </a:extLst>
            </p:cNvPr>
            <p:cNvSpPr txBox="1"/>
            <p:nvPr userDrawn="1"/>
          </p:nvSpPr>
          <p:spPr>
            <a:xfrm>
              <a:off x="5644339" y="1054844"/>
              <a:ext cx="814648" cy="177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ulish SemiBold" pitchFamily="2" charset="0"/>
                  <a:ea typeface="Inter" panose="02000503000000020004" pitchFamily="2" charset="0"/>
                </a:rPr>
                <a:t>MSIG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EC56AAB-1F24-E0BE-17D5-7B9A9B17C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754703">
            <a:off x="-189079" y="548192"/>
            <a:ext cx="2602217" cy="19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1211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  <p15:guide id="3" pos="328" userDrawn="1">
          <p15:clr>
            <a:srgbClr val="FBAE40"/>
          </p15:clr>
        </p15:guide>
        <p15:guide id="4" pos="4434" userDrawn="1">
          <p15:clr>
            <a:srgbClr val="FBAE40"/>
          </p15:clr>
        </p15:guide>
        <p15:guide id="5" orient="horz" pos="645" userDrawn="1">
          <p15:clr>
            <a:srgbClr val="FBAE40"/>
          </p15:clr>
        </p15:guide>
        <p15:guide id="6" orient="horz" pos="609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098755B-07D9-CB5F-0B85-B05DA8FA0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9FF28-5A91-4D68-B6A1-07C42CEB1AAB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8D5A2C1-DA90-7C02-7590-CF489F6F2DC8}"/>
              </a:ext>
            </a:extLst>
          </p:cNvPr>
          <p:cNvGrpSpPr/>
          <p:nvPr userDrawn="1"/>
        </p:nvGrpSpPr>
        <p:grpSpPr>
          <a:xfrm>
            <a:off x="5871646" y="212499"/>
            <a:ext cx="1150818" cy="576000"/>
            <a:chOff x="5054135" y="958951"/>
            <a:chExt cx="1404852" cy="36946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45BD7F2-052A-5C0C-C672-F76F0F4AFA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 preferRelativeResize="0">
              <a:picLocks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95" t="9360" r="56621" b="59313"/>
            <a:stretch/>
          </p:blipFill>
          <p:spPr>
            <a:xfrm>
              <a:off x="5054135" y="958951"/>
              <a:ext cx="703147" cy="36946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231FD6-D58E-3A9D-2E83-294D5B582E02}"/>
                </a:ext>
              </a:extLst>
            </p:cNvPr>
            <p:cNvSpPr txBox="1"/>
            <p:nvPr userDrawn="1"/>
          </p:nvSpPr>
          <p:spPr>
            <a:xfrm>
              <a:off x="5644339" y="1054844"/>
              <a:ext cx="814648" cy="177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chemeClr val="tx1"/>
                  </a:solidFill>
                  <a:latin typeface="Mulish SemiBold" pitchFamily="2" charset="0"/>
                  <a:ea typeface="Inter" panose="02000503000000020004" pitchFamily="2" charset="0"/>
                </a:rPr>
                <a:t>MSIG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8309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  <p15:guide id="3" pos="328" userDrawn="1">
          <p15:clr>
            <a:srgbClr val="FBAE40"/>
          </p15:clr>
        </p15:guide>
        <p15:guide id="4" pos="4434" userDrawn="1">
          <p15:clr>
            <a:srgbClr val="FBAE40"/>
          </p15:clr>
        </p15:guide>
        <p15:guide id="5" orient="horz" pos="645" userDrawn="1">
          <p15:clr>
            <a:srgbClr val="FBAE40"/>
          </p15:clr>
        </p15:guide>
        <p15:guide id="6" orient="horz" pos="60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098755B-07D9-CB5F-0B85-B05DA8FA0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DF9FF28-5A91-4D68-B6A1-07C42CEB1AAB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964E58E-90DD-5504-E483-EFC24F0CE6E5}"/>
              </a:ext>
            </a:extLst>
          </p:cNvPr>
          <p:cNvGrpSpPr/>
          <p:nvPr userDrawn="1"/>
        </p:nvGrpSpPr>
        <p:grpSpPr>
          <a:xfrm>
            <a:off x="5871646" y="212499"/>
            <a:ext cx="1150818" cy="576000"/>
            <a:chOff x="5054135" y="958951"/>
            <a:chExt cx="1404852" cy="36946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F202572-32DC-D0D1-AB2E-A37E5D67B0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 preferRelativeResize="0">
              <a:picLocks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95" t="9360" r="56621" b="59313"/>
            <a:stretch/>
          </p:blipFill>
          <p:spPr>
            <a:xfrm>
              <a:off x="5054135" y="958951"/>
              <a:ext cx="703147" cy="36946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7DA22FA-3B93-25DD-2798-195CDA5C029A}"/>
                </a:ext>
              </a:extLst>
            </p:cNvPr>
            <p:cNvSpPr txBox="1"/>
            <p:nvPr userDrawn="1"/>
          </p:nvSpPr>
          <p:spPr>
            <a:xfrm>
              <a:off x="5644339" y="1054844"/>
              <a:ext cx="814648" cy="177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chemeClr val="bg2"/>
                  </a:solidFill>
                  <a:latin typeface="Mulish SemiBold" pitchFamily="2" charset="0"/>
                  <a:ea typeface="Inter" panose="02000503000000020004" pitchFamily="2" charset="0"/>
                </a:rPr>
                <a:t>MSIG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05153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  <p15:guide id="3" pos="328" userDrawn="1">
          <p15:clr>
            <a:srgbClr val="FBAE40"/>
          </p15:clr>
        </p15:guide>
        <p15:guide id="4" pos="4434" userDrawn="1">
          <p15:clr>
            <a:srgbClr val="FBAE40"/>
          </p15:clr>
        </p15:guide>
        <p15:guide id="5" orient="horz" pos="645" userDrawn="1">
          <p15:clr>
            <a:srgbClr val="FBAE40"/>
          </p15:clr>
        </p15:guide>
        <p15:guide id="6" orient="horz" pos="60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098755B-07D9-CB5F-0B85-B05DA8FA0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DF9FF28-5A91-4D68-B6A1-07C42CEB1AAB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964E58E-90DD-5504-E483-EFC24F0CE6E5}"/>
              </a:ext>
            </a:extLst>
          </p:cNvPr>
          <p:cNvGrpSpPr/>
          <p:nvPr userDrawn="1"/>
        </p:nvGrpSpPr>
        <p:grpSpPr>
          <a:xfrm>
            <a:off x="5871646" y="212499"/>
            <a:ext cx="1150818" cy="576000"/>
            <a:chOff x="5054135" y="958951"/>
            <a:chExt cx="1404852" cy="36946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F202572-32DC-D0D1-AB2E-A37E5D67B0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 preferRelativeResize="0">
              <a:picLocks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95" t="9360" r="56621" b="59313"/>
            <a:stretch/>
          </p:blipFill>
          <p:spPr>
            <a:xfrm>
              <a:off x="5054135" y="958951"/>
              <a:ext cx="703147" cy="36946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7DA22FA-3B93-25DD-2798-195CDA5C029A}"/>
                </a:ext>
              </a:extLst>
            </p:cNvPr>
            <p:cNvSpPr txBox="1"/>
            <p:nvPr userDrawn="1"/>
          </p:nvSpPr>
          <p:spPr>
            <a:xfrm>
              <a:off x="5644339" y="1054844"/>
              <a:ext cx="814648" cy="177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chemeClr val="bg2"/>
                  </a:solidFill>
                  <a:latin typeface="Mulish SemiBold" pitchFamily="2" charset="0"/>
                  <a:ea typeface="Inter" panose="02000503000000020004" pitchFamily="2" charset="0"/>
                </a:rPr>
                <a:t>MSIG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64849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  <p15:guide id="3" pos="328" userDrawn="1">
          <p15:clr>
            <a:srgbClr val="FBAE40"/>
          </p15:clr>
        </p15:guide>
        <p15:guide id="4" pos="4434" userDrawn="1">
          <p15:clr>
            <a:srgbClr val="FBAE40"/>
          </p15:clr>
        </p15:guide>
        <p15:guide id="5" orient="horz" pos="645" userDrawn="1">
          <p15:clr>
            <a:srgbClr val="FBAE40"/>
          </p15:clr>
        </p15:guide>
        <p15:guide id="6" orient="horz" pos="609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Summar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D6683D-8A01-8767-0341-00D66FBE9D5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F9FF28-5A91-4D68-B6A1-07C42CEB1AA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BA5D152-0D78-FBA6-C491-03D335858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813" y="1027088"/>
            <a:ext cx="5407150" cy="94710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4DC73D7-8D72-C4BD-ECBA-2E4860D2AC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9729" y="2098130"/>
            <a:ext cx="6520220" cy="75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675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220219" indent="0">
              <a:buNone/>
              <a:defRPr/>
            </a:lvl2pPr>
            <a:lvl3pPr marL="440438" indent="0">
              <a:buNone/>
              <a:defRPr/>
            </a:lvl3pPr>
            <a:lvl4pPr marL="660657" indent="0">
              <a:buNone/>
              <a:defRPr sz="675">
                <a:latin typeface="Inter" panose="02000503000000020004" pitchFamily="2" charset="0"/>
                <a:ea typeface="Inter" panose="02000503000000020004" pitchFamily="2" charset="0"/>
              </a:defRPr>
            </a:lvl4pPr>
          </a:lstStyle>
          <a:p>
            <a:pPr lvl="0"/>
            <a:r>
              <a:rPr lang="en-US"/>
              <a:t>Heading One</a:t>
            </a:r>
          </a:p>
          <a:p>
            <a:pPr lvl="3"/>
            <a:endParaRPr lang="en-US"/>
          </a:p>
          <a:p>
            <a:pPr lvl="3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62B26C7-BA46-1537-DC27-AAA266D8BA72}"/>
              </a:ext>
            </a:extLst>
          </p:cNvPr>
          <p:cNvGrpSpPr/>
          <p:nvPr userDrawn="1"/>
        </p:nvGrpSpPr>
        <p:grpSpPr>
          <a:xfrm>
            <a:off x="5871646" y="212499"/>
            <a:ext cx="1150818" cy="576000"/>
            <a:chOff x="5054135" y="958951"/>
            <a:chExt cx="1404852" cy="36946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1482521-EF5B-B49B-D9B7-D2B0870398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 preferRelativeResize="0">
              <a:picLocks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95" t="9360" r="56621" b="59313"/>
            <a:stretch/>
          </p:blipFill>
          <p:spPr>
            <a:xfrm>
              <a:off x="5054135" y="958951"/>
              <a:ext cx="703147" cy="36946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0E78B69-EC2E-F142-71DF-CD3F6F1C6E41}"/>
                </a:ext>
              </a:extLst>
            </p:cNvPr>
            <p:cNvSpPr txBox="1"/>
            <p:nvPr userDrawn="1"/>
          </p:nvSpPr>
          <p:spPr>
            <a:xfrm>
              <a:off x="5644339" y="1054844"/>
              <a:ext cx="814648" cy="177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chemeClr val="tx1"/>
                  </a:solidFill>
                  <a:latin typeface="Mulish SemiBold" pitchFamily="2" charset="0"/>
                  <a:ea typeface="Inter" panose="02000503000000020004" pitchFamily="2" charset="0"/>
                </a:rPr>
                <a:t>MSIG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CCE01593-67BB-E782-B99B-5FD329511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75489">
            <a:off x="396339" y="990534"/>
            <a:ext cx="1025340" cy="102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144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  <p15:guide id="3" pos="328" userDrawn="1">
          <p15:clr>
            <a:srgbClr val="FBAE40"/>
          </p15:clr>
        </p15:guide>
        <p15:guide id="4" pos="4434" userDrawn="1">
          <p15:clr>
            <a:srgbClr val="FBAE40"/>
          </p15:clr>
        </p15:guide>
        <p15:guide id="5" orient="horz" pos="645" userDrawn="1">
          <p15:clr>
            <a:srgbClr val="FBAE40"/>
          </p15:clr>
        </p15:guide>
        <p15:guide id="6" orient="horz" pos="609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xecutive Summar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D6683D-8A01-8767-0341-00D66FBE9D5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F9FF28-5A91-4D68-B6A1-07C42CEB1AA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DDF47F-ABC6-3B1C-36AE-EFF1495F185C}"/>
              </a:ext>
            </a:extLst>
          </p:cNvPr>
          <p:cNvSpPr txBox="1"/>
          <p:nvPr userDrawn="1"/>
        </p:nvSpPr>
        <p:spPr>
          <a:xfrm>
            <a:off x="1631814" y="1208254"/>
            <a:ext cx="390368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3200" dirty="0"/>
              <a:t>Executive Summary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A679617-5CE6-5D8C-BD43-817D9BB854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9729" y="2098130"/>
            <a:ext cx="6520220" cy="75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675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220219" indent="0">
              <a:buNone/>
              <a:defRPr/>
            </a:lvl2pPr>
            <a:lvl3pPr marL="440438" indent="0">
              <a:buNone/>
              <a:defRPr/>
            </a:lvl3pPr>
            <a:lvl4pPr marL="660657" indent="0">
              <a:buNone/>
              <a:defRPr sz="675">
                <a:latin typeface="Inter" panose="02000503000000020004" pitchFamily="2" charset="0"/>
                <a:ea typeface="Inter" panose="02000503000000020004" pitchFamily="2" charset="0"/>
              </a:defRPr>
            </a:lvl4pPr>
          </a:lstStyle>
          <a:p>
            <a:pPr lvl="0"/>
            <a:r>
              <a:rPr lang="en-US"/>
              <a:t>Heading One</a:t>
            </a:r>
          </a:p>
          <a:p>
            <a:pPr lvl="3"/>
            <a:endParaRPr lang="en-US"/>
          </a:p>
          <a:p>
            <a:pPr lvl="3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FD4D859-782B-3F99-315C-FCFAA2BE566C}"/>
              </a:ext>
            </a:extLst>
          </p:cNvPr>
          <p:cNvGrpSpPr/>
          <p:nvPr userDrawn="1"/>
        </p:nvGrpSpPr>
        <p:grpSpPr>
          <a:xfrm>
            <a:off x="5871646" y="212499"/>
            <a:ext cx="1150818" cy="576000"/>
            <a:chOff x="5054135" y="958951"/>
            <a:chExt cx="1404852" cy="36946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D35155A-55D5-E819-ECD8-38CAFC250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 preferRelativeResize="0">
              <a:picLocks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95" t="9360" r="56621" b="59313"/>
            <a:stretch/>
          </p:blipFill>
          <p:spPr>
            <a:xfrm>
              <a:off x="5054135" y="958951"/>
              <a:ext cx="703147" cy="36946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185C786-2BAC-A7CD-01BD-B32DF225E92C}"/>
                </a:ext>
              </a:extLst>
            </p:cNvPr>
            <p:cNvSpPr txBox="1"/>
            <p:nvPr userDrawn="1"/>
          </p:nvSpPr>
          <p:spPr>
            <a:xfrm>
              <a:off x="5644339" y="1054844"/>
              <a:ext cx="814648" cy="177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chemeClr val="tx1"/>
                  </a:solidFill>
                  <a:latin typeface="Mulish SemiBold" pitchFamily="2" charset="0"/>
                  <a:ea typeface="Inter" panose="02000503000000020004" pitchFamily="2" charset="0"/>
                </a:rPr>
                <a:t>MSIG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4E0F4287-A991-F5C5-2597-BB248DDA1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75489">
            <a:off x="396339" y="990534"/>
            <a:ext cx="1025340" cy="102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3883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  <p15:guide id="3" pos="328" userDrawn="1">
          <p15:clr>
            <a:srgbClr val="FBAE40"/>
          </p15:clr>
        </p15:guide>
        <p15:guide id="4" pos="4434" userDrawn="1">
          <p15:clr>
            <a:srgbClr val="FBAE40"/>
          </p15:clr>
        </p15:guide>
        <p15:guide id="5" orient="horz" pos="645" userDrawn="1">
          <p15:clr>
            <a:srgbClr val="FBAE40"/>
          </p15:clr>
        </p15:guide>
        <p15:guide id="6" orient="horz" pos="60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40FCE53-FF3E-EB70-F751-C404E02ACDF5}"/>
              </a:ext>
            </a:extLst>
          </p:cNvPr>
          <p:cNvCxnSpPr>
            <a:cxnSpLocks/>
          </p:cNvCxnSpPr>
          <p:nvPr userDrawn="1"/>
        </p:nvCxnSpPr>
        <p:spPr>
          <a:xfrm>
            <a:off x="501113" y="1024633"/>
            <a:ext cx="0" cy="947109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00E697-CAD7-304D-7275-EB7445FCD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7067598" y="8323338"/>
            <a:ext cx="984" cy="134700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9">
            <a:extLst>
              <a:ext uri="{FF2B5EF4-FFF2-40B4-BE49-F238E27FC236}">
                <a16:creationId xmlns:a16="http://schemas.microsoft.com/office/drawing/2014/main" id="{5048DF17-2EC0-F5F3-A3D1-5F06AA1F6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100" y="1027088"/>
            <a:ext cx="6520220" cy="94710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098755B-07D9-CB5F-0B85-B05DA8FA0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9FF28-5A91-4D68-B6A1-07C42CEB1AA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FD73621-B321-59AA-1071-81898197554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9729" y="2098130"/>
            <a:ext cx="6520220" cy="75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675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220219" indent="0">
              <a:buNone/>
              <a:defRPr/>
            </a:lvl2pPr>
            <a:lvl3pPr marL="440438" indent="0">
              <a:buNone/>
              <a:defRPr/>
            </a:lvl3pPr>
            <a:lvl4pPr marL="660657" indent="0">
              <a:buNone/>
              <a:defRPr sz="675">
                <a:latin typeface="Inter" panose="02000503000000020004" pitchFamily="2" charset="0"/>
                <a:ea typeface="Inter" panose="02000503000000020004" pitchFamily="2" charset="0"/>
              </a:defRPr>
            </a:lvl4pPr>
          </a:lstStyle>
          <a:p>
            <a:pPr lvl="0"/>
            <a:r>
              <a:rPr lang="en-US"/>
              <a:t>Heading One</a:t>
            </a:r>
          </a:p>
          <a:p>
            <a:pPr lvl="3"/>
            <a:endParaRPr lang="en-US"/>
          </a:p>
          <a:p>
            <a:pPr lvl="3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281E1B1-2125-43AA-EE22-3FA87AE722A6}"/>
              </a:ext>
            </a:extLst>
          </p:cNvPr>
          <p:cNvGrpSpPr/>
          <p:nvPr userDrawn="1"/>
        </p:nvGrpSpPr>
        <p:grpSpPr>
          <a:xfrm>
            <a:off x="5871646" y="212499"/>
            <a:ext cx="1150818" cy="576000"/>
            <a:chOff x="5054135" y="958951"/>
            <a:chExt cx="1404852" cy="36946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F5EEFF0-4DDA-FF08-7E86-621C44927D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 preferRelativeResize="0">
              <a:picLocks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95" t="9360" r="56621" b="59313"/>
            <a:stretch/>
          </p:blipFill>
          <p:spPr>
            <a:xfrm>
              <a:off x="5054135" y="958951"/>
              <a:ext cx="703147" cy="36946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D108A82-9007-98C9-5C63-1177030B57A3}"/>
                </a:ext>
              </a:extLst>
            </p:cNvPr>
            <p:cNvSpPr txBox="1"/>
            <p:nvPr userDrawn="1"/>
          </p:nvSpPr>
          <p:spPr>
            <a:xfrm>
              <a:off x="5644339" y="1054844"/>
              <a:ext cx="814648" cy="177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chemeClr val="tx1"/>
                  </a:solidFill>
                  <a:latin typeface="Mulish SemiBold" pitchFamily="2" charset="0"/>
                  <a:ea typeface="Inter" panose="02000503000000020004" pitchFamily="2" charset="0"/>
                </a:rPr>
                <a:t>MSIG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3402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  <p15:guide id="3" pos="328" userDrawn="1">
          <p15:clr>
            <a:srgbClr val="FBAE40"/>
          </p15:clr>
        </p15:guide>
        <p15:guide id="4" pos="4434" userDrawn="1">
          <p15:clr>
            <a:srgbClr val="FBAE40"/>
          </p15:clr>
        </p15:guide>
        <p15:guide id="5" orient="horz" pos="645" userDrawn="1">
          <p15:clr>
            <a:srgbClr val="FBAE40"/>
          </p15:clr>
        </p15:guide>
        <p15:guide id="6" orient="horz" pos="60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048DF17-2EC0-F5F3-A3D1-5F06AA1F6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29" y="3804072"/>
            <a:ext cx="6520220" cy="94710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098755B-07D9-CB5F-0B85-B05DA8FA0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9FF28-5A91-4D68-B6A1-07C42CEB1AAB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323E839-8996-0090-09AB-DEA3F758C646}"/>
              </a:ext>
            </a:extLst>
          </p:cNvPr>
          <p:cNvGrpSpPr/>
          <p:nvPr userDrawn="1"/>
        </p:nvGrpSpPr>
        <p:grpSpPr>
          <a:xfrm>
            <a:off x="765143" y="5345907"/>
            <a:ext cx="4126733" cy="0"/>
            <a:chOff x="1233996" y="3429000"/>
            <a:chExt cx="6655461" cy="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3E1496B-5E3B-8E3E-BFD7-C8777709215C}"/>
                </a:ext>
              </a:extLst>
            </p:cNvPr>
            <p:cNvCxnSpPr>
              <a:cxnSpLocks/>
            </p:cNvCxnSpPr>
            <p:nvPr/>
          </p:nvCxnSpPr>
          <p:spPr>
            <a:xfrm>
              <a:off x="1233996" y="3429000"/>
              <a:ext cx="5724204" cy="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9CF61B5-AFBC-A5AB-B151-5A109E382C40}"/>
                </a:ext>
              </a:extLst>
            </p:cNvPr>
            <p:cNvCxnSpPr>
              <a:cxnSpLocks/>
            </p:cNvCxnSpPr>
            <p:nvPr/>
          </p:nvCxnSpPr>
          <p:spPr>
            <a:xfrm>
              <a:off x="7169457" y="3429000"/>
              <a:ext cx="720000" cy="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3CF16A6-6031-249A-54B4-424C4DB400B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19729" y="5540741"/>
            <a:ext cx="6520220" cy="41790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Heading One</a:t>
            </a:r>
          </a:p>
          <a:p>
            <a:pPr lvl="1"/>
            <a:r>
              <a:rPr lang="en-US"/>
              <a:t>Heading two</a:t>
            </a:r>
          </a:p>
          <a:p>
            <a:pPr lvl="2"/>
            <a:r>
              <a:rPr lang="en-US"/>
              <a:t>Heading three</a:t>
            </a:r>
          </a:p>
          <a:p>
            <a:pPr lvl="3"/>
            <a:r>
              <a:rPr lang="en-US"/>
              <a:t>Paragraph</a:t>
            </a:r>
          </a:p>
          <a:p>
            <a:pPr lvl="3"/>
            <a:endParaRPr lang="en-US"/>
          </a:p>
          <a:p>
            <a:pPr lvl="3"/>
            <a:endParaRPr lang="en-US"/>
          </a:p>
          <a:p>
            <a:pPr lvl="3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533308F-08AA-EED3-16AD-0366E9E622D7}"/>
              </a:ext>
            </a:extLst>
          </p:cNvPr>
          <p:cNvGrpSpPr/>
          <p:nvPr userDrawn="1"/>
        </p:nvGrpSpPr>
        <p:grpSpPr>
          <a:xfrm>
            <a:off x="5871646" y="212499"/>
            <a:ext cx="1150818" cy="576000"/>
            <a:chOff x="5054135" y="958951"/>
            <a:chExt cx="1404852" cy="36946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51319E7-7D4C-C649-B435-9686EAFA82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 preferRelativeResize="0">
              <a:picLocks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95" t="9360" r="56621" b="59313"/>
            <a:stretch/>
          </p:blipFill>
          <p:spPr>
            <a:xfrm>
              <a:off x="5054135" y="958951"/>
              <a:ext cx="703147" cy="36946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A21E013-0AD8-3BFE-A55F-D30B9D4403B5}"/>
                </a:ext>
              </a:extLst>
            </p:cNvPr>
            <p:cNvSpPr txBox="1"/>
            <p:nvPr userDrawn="1"/>
          </p:nvSpPr>
          <p:spPr>
            <a:xfrm>
              <a:off x="5644339" y="1054844"/>
              <a:ext cx="814648" cy="177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chemeClr val="tx1"/>
                  </a:solidFill>
                  <a:latin typeface="Mulish SemiBold" pitchFamily="2" charset="0"/>
                  <a:ea typeface="Inter" panose="02000503000000020004" pitchFamily="2" charset="0"/>
                </a:rPr>
                <a:t>MSIG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427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  <p15:guide id="3" pos="328" userDrawn="1">
          <p15:clr>
            <a:srgbClr val="FBAE40"/>
          </p15:clr>
        </p15:guide>
        <p15:guide id="4" pos="4434" userDrawn="1">
          <p15:clr>
            <a:srgbClr val="FBAE40"/>
          </p15:clr>
        </p15:guide>
        <p15:guide id="5" orient="horz" pos="645" userDrawn="1">
          <p15:clr>
            <a:srgbClr val="FBAE40"/>
          </p15:clr>
        </p15:guide>
        <p15:guide id="6" orient="horz" pos="60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riable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00E697-CAD7-304D-7275-EB7445FCD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7067598" y="8323338"/>
            <a:ext cx="984" cy="134700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32C31AF-81B7-4D2C-F04F-AC5AFFD2A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9728" y="2853256"/>
            <a:ext cx="6519236" cy="6811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675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220219" indent="0">
              <a:buNone/>
              <a:defRPr/>
            </a:lvl2pPr>
            <a:lvl3pPr marL="440438" indent="0">
              <a:buNone/>
              <a:defRPr/>
            </a:lvl3pPr>
            <a:lvl4pPr marL="660657" indent="0">
              <a:buNone/>
              <a:defRPr sz="675">
                <a:latin typeface="Inter" panose="02000503000000020004" pitchFamily="2" charset="0"/>
                <a:ea typeface="Inter" panose="02000503000000020004" pitchFamily="2" charset="0"/>
              </a:defRPr>
            </a:lvl4pPr>
          </a:lstStyle>
          <a:p>
            <a:pPr lvl="0"/>
            <a:r>
              <a:rPr lang="en-US"/>
              <a:t>Heading One</a:t>
            </a:r>
          </a:p>
          <a:p>
            <a:pPr lvl="3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5048DF17-2EC0-F5F3-A3D1-5F06AA1F6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100" y="1027088"/>
            <a:ext cx="6520220" cy="94710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098755B-07D9-CB5F-0B85-B05DA8FA0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9FF28-5A91-4D68-B6A1-07C42CEB1AA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76E0A763-F5D7-7B27-9AF7-1C83925550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0100" y="2099426"/>
            <a:ext cx="6520220" cy="628600"/>
          </a:xfrm>
        </p:spPr>
        <p:txBody>
          <a:bodyPr anchor="ctr">
            <a:normAutofit/>
          </a:bodyPr>
          <a:lstStyle>
            <a:lvl1pPr marL="0" indent="0">
              <a:buNone/>
              <a:defRPr sz="963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/>
              <a:t>Description</a:t>
            </a:r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104C862-9362-9AD8-1C6D-4FBEDD108DF0}"/>
              </a:ext>
            </a:extLst>
          </p:cNvPr>
          <p:cNvCxnSpPr>
            <a:cxnSpLocks/>
          </p:cNvCxnSpPr>
          <p:nvPr userDrawn="1"/>
        </p:nvCxnSpPr>
        <p:spPr>
          <a:xfrm>
            <a:off x="501113" y="1024633"/>
            <a:ext cx="0" cy="947109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E4E2557-FB13-B09F-478E-84814B91F4AF}"/>
              </a:ext>
            </a:extLst>
          </p:cNvPr>
          <p:cNvGrpSpPr/>
          <p:nvPr userDrawn="1"/>
        </p:nvGrpSpPr>
        <p:grpSpPr>
          <a:xfrm>
            <a:off x="5871646" y="212499"/>
            <a:ext cx="1150818" cy="576000"/>
            <a:chOff x="5054135" y="958951"/>
            <a:chExt cx="1404852" cy="36946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3E0CBE9-D23F-4B94-F4F0-B3EEB5F05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 preferRelativeResize="0">
              <a:picLocks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95" t="9360" r="56621" b="59313"/>
            <a:stretch/>
          </p:blipFill>
          <p:spPr>
            <a:xfrm>
              <a:off x="5054135" y="958951"/>
              <a:ext cx="703147" cy="36946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369BF62-05CB-5AC3-D5D2-4E659C700D8E}"/>
                </a:ext>
              </a:extLst>
            </p:cNvPr>
            <p:cNvSpPr txBox="1"/>
            <p:nvPr userDrawn="1"/>
          </p:nvSpPr>
          <p:spPr>
            <a:xfrm>
              <a:off x="5644339" y="1054844"/>
              <a:ext cx="814648" cy="177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chemeClr val="tx1"/>
                  </a:solidFill>
                  <a:latin typeface="Mulish SemiBold" pitchFamily="2" charset="0"/>
                  <a:ea typeface="Inter" panose="02000503000000020004" pitchFamily="2" charset="0"/>
                </a:rPr>
                <a:t>MSIG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190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  <p15:guide id="3" pos="328" userDrawn="1">
          <p15:clr>
            <a:srgbClr val="FBAE40"/>
          </p15:clr>
        </p15:guide>
        <p15:guide id="4" pos="4434" userDrawn="1">
          <p15:clr>
            <a:srgbClr val="FBAE40"/>
          </p15:clr>
        </p15:guide>
        <p15:guide id="5" orient="horz" pos="645" userDrawn="1">
          <p15:clr>
            <a:srgbClr val="FBAE40"/>
          </p15:clr>
        </p15:guide>
        <p15:guide id="6" orient="horz" pos="60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evelop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048DF17-2EC0-F5F3-A3D1-5F06AA1F6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100" y="1027088"/>
            <a:ext cx="6520220" cy="94710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098755B-07D9-CB5F-0B85-B05DA8FA0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9FF28-5A91-4D68-B6A1-07C42CEB1AAB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7DF5A2C-57E7-F1C4-7BC1-3E9CBB617167}"/>
              </a:ext>
            </a:extLst>
          </p:cNvPr>
          <p:cNvCxnSpPr>
            <a:cxnSpLocks/>
          </p:cNvCxnSpPr>
          <p:nvPr userDrawn="1"/>
        </p:nvCxnSpPr>
        <p:spPr>
          <a:xfrm>
            <a:off x="501113" y="3291698"/>
            <a:ext cx="0" cy="4882875"/>
          </a:xfrm>
          <a:prstGeom prst="line">
            <a:avLst/>
          </a:prstGeom>
          <a:ln w="57150">
            <a:solidFill>
              <a:schemeClr val="tx2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Triangle 19">
            <a:extLst>
              <a:ext uri="{FF2B5EF4-FFF2-40B4-BE49-F238E27FC236}">
                <a16:creationId xmlns:a16="http://schemas.microsoft.com/office/drawing/2014/main" id="{78C88AC9-CB0D-BBA5-6CA1-AA3F74FA32A1}"/>
              </a:ext>
            </a:extLst>
          </p:cNvPr>
          <p:cNvSpPr/>
          <p:nvPr userDrawn="1"/>
        </p:nvSpPr>
        <p:spPr>
          <a:xfrm flipH="1" flipV="1">
            <a:off x="322539" y="7868725"/>
            <a:ext cx="178575" cy="449000"/>
          </a:xfrm>
          <a:prstGeom prst="rtTriangle">
            <a:avLst/>
          </a:prstGeom>
          <a:solidFill>
            <a:schemeClr val="tx2"/>
          </a:solidFill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67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8FBCCC0-BF96-939F-9B7D-FB6340D6153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9728" y="2853256"/>
            <a:ext cx="6519236" cy="6811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675">
                <a:latin typeface="Inter" panose="02000503000000020004" pitchFamily="2" charset="0"/>
                <a:ea typeface="Inter" panose="02000503000000020004" pitchFamily="2" charset="0"/>
              </a:defRPr>
            </a:lvl1pPr>
            <a:lvl2pPr marL="220219" indent="0">
              <a:buNone/>
              <a:defRPr/>
            </a:lvl2pPr>
            <a:lvl3pPr marL="440438" indent="0">
              <a:buNone/>
              <a:defRPr/>
            </a:lvl3pPr>
            <a:lvl4pPr marL="660657" indent="0">
              <a:buNone/>
              <a:defRPr sz="675">
                <a:latin typeface="Inter" panose="02000503000000020004" pitchFamily="2" charset="0"/>
                <a:ea typeface="Inter" panose="02000503000000020004" pitchFamily="2" charset="0"/>
              </a:defRPr>
            </a:lvl4pPr>
          </a:lstStyle>
          <a:p>
            <a:pPr lvl="0"/>
            <a:r>
              <a:rPr lang="en-US"/>
              <a:t>Heading One</a:t>
            </a:r>
          </a:p>
          <a:p>
            <a:pPr lvl="3"/>
            <a:endParaRPr lang="en-US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6B99A664-CD7A-BF85-45F9-7634FAB29B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0100" y="2099426"/>
            <a:ext cx="6520220" cy="628600"/>
          </a:xfrm>
        </p:spPr>
        <p:txBody>
          <a:bodyPr anchor="ctr">
            <a:normAutofit/>
          </a:bodyPr>
          <a:lstStyle>
            <a:lvl1pPr marL="0" indent="0">
              <a:buNone/>
              <a:defRPr sz="963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/>
              <a:t>Description</a:t>
            </a:r>
            <a:endParaRPr lang="en-GB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FA2C5FD-14C2-66DF-9F2C-D6C7581A05C0}"/>
              </a:ext>
            </a:extLst>
          </p:cNvPr>
          <p:cNvGrpSpPr/>
          <p:nvPr userDrawn="1"/>
        </p:nvGrpSpPr>
        <p:grpSpPr>
          <a:xfrm>
            <a:off x="5873134" y="211522"/>
            <a:ext cx="1150818" cy="473555"/>
            <a:chOff x="5054135" y="958952"/>
            <a:chExt cx="1404852" cy="30375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9E17A9F-7F82-3A58-85C0-C112B440A7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 preferRelativeResize="0">
              <a:picLocks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95" t="9360" r="56621" b="59313"/>
            <a:stretch/>
          </p:blipFill>
          <p:spPr>
            <a:xfrm>
              <a:off x="5054135" y="958952"/>
              <a:ext cx="726647" cy="30375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1F5D987-6D39-76BA-7C0F-E308BA3C5F80}"/>
                </a:ext>
              </a:extLst>
            </p:cNvPr>
            <p:cNvSpPr txBox="1"/>
            <p:nvPr userDrawn="1"/>
          </p:nvSpPr>
          <p:spPr>
            <a:xfrm>
              <a:off x="5644339" y="1032921"/>
              <a:ext cx="814648" cy="1645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28" dirty="0">
                  <a:solidFill>
                    <a:schemeClr val="tx1"/>
                  </a:solidFill>
                  <a:latin typeface="Mulish SemiBold" pitchFamily="2" charset="0"/>
                  <a:ea typeface="Inter" panose="02000503000000020004" pitchFamily="2" charset="0"/>
                </a:rPr>
                <a:t>MSIG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3380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  <p15:guide id="3" pos="328" userDrawn="1">
          <p15:clr>
            <a:srgbClr val="FBAE40"/>
          </p15:clr>
        </p15:guide>
        <p15:guide id="4" pos="4434" userDrawn="1">
          <p15:clr>
            <a:srgbClr val="FBAE40"/>
          </p15:clr>
        </p15:guide>
        <p15:guide id="5" orient="horz" pos="645" userDrawn="1">
          <p15:clr>
            <a:srgbClr val="FBAE40"/>
          </p15:clr>
        </p15:guide>
        <p15:guide id="6" orient="horz" pos="60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g Impact Ite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D6683D-8A01-8767-0341-00D66FBE9D5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F9FF28-5A91-4D68-B6A1-07C42CEB1AA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BDEDA27A-8DCA-23F0-D495-01C8D6F534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0714" y="1024633"/>
            <a:ext cx="3259125" cy="8642549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  <a:latin typeface="Inter ExtraBold" panose="02000503000000020004" pitchFamily="2" charset="0"/>
                <a:ea typeface="Inter ExtraBold" panose="02000503000000020004" pitchFamily="2" charset="0"/>
              </a:defRPr>
            </a:lvl1pPr>
          </a:lstStyle>
          <a:p>
            <a:pPr lvl="0"/>
            <a:r>
              <a:rPr lang="en-US"/>
              <a:t>Big description with key words  drawn out for effect</a:t>
            </a:r>
            <a:endParaRPr lang="en-GB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F794314-A184-30AD-1AA6-B95AAF35F73D}"/>
              </a:ext>
            </a:extLst>
          </p:cNvPr>
          <p:cNvGrpSpPr/>
          <p:nvPr userDrawn="1"/>
        </p:nvGrpSpPr>
        <p:grpSpPr>
          <a:xfrm>
            <a:off x="3806614" y="1711137"/>
            <a:ext cx="3159771" cy="7269543"/>
            <a:chOff x="6139183" y="1311559"/>
            <a:chExt cx="5095976" cy="4662869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BDDC032-707B-5D07-E24B-6053684D4F85}"/>
                </a:ext>
              </a:extLst>
            </p:cNvPr>
            <p:cNvGrpSpPr/>
            <p:nvPr userDrawn="1"/>
          </p:nvGrpSpPr>
          <p:grpSpPr>
            <a:xfrm>
              <a:off x="6693177" y="1311559"/>
              <a:ext cx="4541982" cy="4217151"/>
              <a:chOff x="6693177" y="819561"/>
              <a:chExt cx="4541982" cy="4217151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214C340-8E65-827E-EDB6-167E8A1387BE}"/>
                  </a:ext>
                </a:extLst>
              </p:cNvPr>
              <p:cNvSpPr/>
              <p:nvPr userDrawn="1"/>
            </p:nvSpPr>
            <p:spPr>
              <a:xfrm rot="292208">
                <a:off x="8355159" y="819561"/>
                <a:ext cx="2880000" cy="28800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9000">
                    <a:schemeClr val="accent1">
                      <a:lumMod val="51000"/>
                      <a:lumOff val="49000"/>
                    </a:schemeClr>
                  </a:gs>
                  <a:gs pos="36000">
                    <a:schemeClr val="accent1"/>
                  </a:gs>
                  <a:gs pos="100000">
                    <a:schemeClr val="accent1"/>
                  </a:gs>
                </a:gsLst>
                <a:lin ang="18900000" scaled="1"/>
              </a:gradFill>
              <a:ln w="38100">
                <a:solidFill>
                  <a:schemeClr val="bg1"/>
                </a:solidFill>
              </a:ln>
              <a:scene3d>
                <a:camera prst="perspectiveLeft"/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867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03AB7A9-2103-618D-EFAC-343D1252D33E}"/>
                  </a:ext>
                </a:extLst>
              </p:cNvPr>
              <p:cNvSpPr/>
              <p:nvPr userDrawn="1"/>
            </p:nvSpPr>
            <p:spPr>
              <a:xfrm rot="292208">
                <a:off x="7801165" y="1265278"/>
                <a:ext cx="2880000" cy="2880000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alpha val="30000"/>
                    </a:schemeClr>
                  </a:gs>
                  <a:gs pos="19000">
                    <a:schemeClr val="accent1">
                      <a:lumMod val="51000"/>
                      <a:lumOff val="49000"/>
                      <a:alpha val="30000"/>
                    </a:schemeClr>
                  </a:gs>
                  <a:gs pos="36000">
                    <a:schemeClr val="accent1">
                      <a:alpha val="30000"/>
                    </a:schemeClr>
                  </a:gs>
                  <a:gs pos="100000">
                    <a:schemeClr val="accent1">
                      <a:alpha val="30000"/>
                    </a:schemeClr>
                  </a:gs>
                </a:gsLst>
                <a:lin ang="18900000" scaled="1"/>
              </a:gradFill>
              <a:ln w="38100">
                <a:solidFill>
                  <a:schemeClr val="bg1"/>
                </a:solidFill>
              </a:ln>
              <a:scene3d>
                <a:camera prst="perspectiveLeft"/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867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EF6535F-DEF9-B490-4214-7F7C579B1068}"/>
                  </a:ext>
                </a:extLst>
              </p:cNvPr>
              <p:cNvSpPr/>
              <p:nvPr userDrawn="1"/>
            </p:nvSpPr>
            <p:spPr>
              <a:xfrm rot="292208">
                <a:off x="7247171" y="1710995"/>
                <a:ext cx="2880000" cy="2880000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alpha val="20000"/>
                    </a:schemeClr>
                  </a:gs>
                  <a:gs pos="19000">
                    <a:schemeClr val="accent1">
                      <a:lumMod val="51000"/>
                      <a:lumOff val="49000"/>
                      <a:alpha val="20000"/>
                    </a:schemeClr>
                  </a:gs>
                  <a:gs pos="36000">
                    <a:schemeClr val="accent1">
                      <a:alpha val="20000"/>
                    </a:schemeClr>
                  </a:gs>
                  <a:gs pos="100000">
                    <a:schemeClr val="accent1">
                      <a:alpha val="20000"/>
                    </a:schemeClr>
                  </a:gs>
                </a:gsLst>
                <a:lin ang="18900000" scaled="1"/>
              </a:gradFill>
              <a:ln w="38100">
                <a:solidFill>
                  <a:schemeClr val="bg1"/>
                </a:solidFill>
              </a:ln>
              <a:scene3d>
                <a:camera prst="perspectiveLeft"/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867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90C7CFE-B6B9-50E5-3AD0-F30B82E714FE}"/>
                  </a:ext>
                </a:extLst>
              </p:cNvPr>
              <p:cNvSpPr/>
              <p:nvPr userDrawn="1"/>
            </p:nvSpPr>
            <p:spPr>
              <a:xfrm rot="292208">
                <a:off x="6693177" y="2156712"/>
                <a:ext cx="2880000" cy="2880000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alpha val="10000"/>
                    </a:schemeClr>
                  </a:gs>
                  <a:gs pos="19000">
                    <a:schemeClr val="accent1">
                      <a:lumMod val="51000"/>
                      <a:lumOff val="49000"/>
                      <a:alpha val="10000"/>
                    </a:schemeClr>
                  </a:gs>
                  <a:gs pos="36000">
                    <a:schemeClr val="accent1">
                      <a:alpha val="10000"/>
                    </a:schemeClr>
                  </a:gs>
                  <a:gs pos="100000">
                    <a:schemeClr val="accent1">
                      <a:alpha val="10000"/>
                    </a:schemeClr>
                  </a:gs>
                </a:gsLst>
                <a:lin ang="18900000" scaled="1"/>
              </a:gradFill>
              <a:ln w="38100">
                <a:solidFill>
                  <a:schemeClr val="bg1"/>
                </a:solidFill>
              </a:ln>
              <a:scene3d>
                <a:camera prst="perspectiveLeft"/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867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38A7F09-CEB1-F193-B828-339CC80FB154}"/>
                </a:ext>
              </a:extLst>
            </p:cNvPr>
            <p:cNvSpPr/>
            <p:nvPr userDrawn="1"/>
          </p:nvSpPr>
          <p:spPr>
            <a:xfrm rot="292208">
              <a:off x="6139183" y="3094428"/>
              <a:ext cx="2880000" cy="2880000"/>
            </a:xfrm>
            <a:prstGeom prst="rect">
              <a:avLst/>
            </a:prstGeom>
            <a:gradFill>
              <a:gsLst>
                <a:gs pos="0">
                  <a:schemeClr val="accent1">
                    <a:alpha val="5000"/>
                  </a:schemeClr>
                </a:gs>
                <a:gs pos="19000">
                  <a:schemeClr val="accent1">
                    <a:lumMod val="51000"/>
                    <a:lumOff val="49000"/>
                    <a:alpha val="5000"/>
                  </a:schemeClr>
                </a:gs>
                <a:gs pos="36000">
                  <a:schemeClr val="accent1">
                    <a:alpha val="5000"/>
                  </a:schemeClr>
                </a:gs>
                <a:gs pos="100000">
                  <a:schemeClr val="accent1">
                    <a:alpha val="5000"/>
                  </a:schemeClr>
                </a:gs>
              </a:gsLst>
              <a:lin ang="18900000" scaled="1"/>
            </a:gradFill>
            <a:ln w="38100">
              <a:solidFill>
                <a:schemeClr val="bg1"/>
              </a:solidFill>
            </a:ln>
            <a:scene3d>
              <a:camera prst="perspectiveLef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67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6C88C7B-DCB6-83B8-A56C-0DE837636AD6}"/>
              </a:ext>
            </a:extLst>
          </p:cNvPr>
          <p:cNvGrpSpPr/>
          <p:nvPr userDrawn="1"/>
        </p:nvGrpSpPr>
        <p:grpSpPr>
          <a:xfrm>
            <a:off x="5871646" y="212499"/>
            <a:ext cx="1150818" cy="576000"/>
            <a:chOff x="5054135" y="958951"/>
            <a:chExt cx="1404852" cy="369460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3A589F52-9230-D236-AFF8-24A0C197F8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 preferRelativeResize="0">
              <a:picLocks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95" t="9360" r="56621" b="59313"/>
            <a:stretch/>
          </p:blipFill>
          <p:spPr>
            <a:xfrm>
              <a:off x="5054135" y="958951"/>
              <a:ext cx="703147" cy="36946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8310A4E-A56A-5137-0F47-2D2A8DEBE2EE}"/>
                </a:ext>
              </a:extLst>
            </p:cNvPr>
            <p:cNvSpPr txBox="1"/>
            <p:nvPr userDrawn="1"/>
          </p:nvSpPr>
          <p:spPr>
            <a:xfrm>
              <a:off x="5644339" y="1054844"/>
              <a:ext cx="814648" cy="177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chemeClr val="tx1"/>
                  </a:solidFill>
                  <a:latin typeface="Mulish SemiBold" pitchFamily="2" charset="0"/>
                  <a:ea typeface="Inter" panose="02000503000000020004" pitchFamily="2" charset="0"/>
                </a:rPr>
                <a:t>MSIG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0576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  <p15:guide id="3" pos="328" userDrawn="1">
          <p15:clr>
            <a:srgbClr val="FBAE40"/>
          </p15:clr>
        </p15:guide>
        <p15:guide id="4" pos="4434" userDrawn="1">
          <p15:clr>
            <a:srgbClr val="FBAE40"/>
          </p15:clr>
        </p15:guide>
        <p15:guide id="5" orient="horz" pos="645" userDrawn="1">
          <p15:clr>
            <a:srgbClr val="FBAE40"/>
          </p15:clr>
        </p15:guide>
        <p15:guide id="6" orient="horz" pos="60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tric Repo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202D59BA-2451-1AC2-CC8D-34067C454B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53" r="3659" b="8041"/>
          <a:stretch/>
        </p:blipFill>
        <p:spPr>
          <a:xfrm>
            <a:off x="3779837" y="1393176"/>
            <a:ext cx="3779838" cy="9298638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203EFFD2-8B13-FB67-5369-EA9726692E45}"/>
              </a:ext>
            </a:extLst>
          </p:cNvPr>
          <p:cNvSpPr/>
          <p:nvPr userDrawn="1"/>
        </p:nvSpPr>
        <p:spPr>
          <a:xfrm>
            <a:off x="3756630" y="6651488"/>
            <a:ext cx="558047" cy="14031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67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D44B06-1D19-1AEE-85EE-1BE448720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4862">
            <a:off x="3792834" y="6745571"/>
            <a:ext cx="485638" cy="1214960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D6683D-8A01-8767-0341-00D66FBE9D54}"/>
              </a:ext>
            </a:extLst>
          </p:cNvPr>
          <p:cNvSpPr>
            <a:spLocks noGrp="1"/>
          </p:cNvSpPr>
          <p:nvPr userDrawn="1"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DF9FF28-5A91-4D68-B6A1-07C42CEB1AAB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BDEDA27A-8DCA-23F0-D495-01C8D6F53414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520714" y="1024633"/>
            <a:ext cx="3259125" cy="1336927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Inter ExtraBold" panose="02000503000000020004" pitchFamily="2" charset="0"/>
                <a:ea typeface="Inter ExtraBold" panose="02000503000000020004" pitchFamily="2" charset="0"/>
              </a:defRPr>
            </a:lvl1pPr>
          </a:lstStyle>
          <a:p>
            <a:pPr lvl="0"/>
            <a:r>
              <a:rPr lang="en-US"/>
              <a:t>Key Item</a:t>
            </a:r>
            <a:endParaRPr lang="en-GB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5546B00B-C85A-32B1-4D93-301153DD5DB0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520714" y="2447956"/>
            <a:ext cx="3259125" cy="1336927"/>
          </a:xfrm>
        </p:spPr>
        <p:txBody>
          <a:bodyPr>
            <a:normAutofit/>
          </a:bodyPr>
          <a:lstStyle>
            <a:lvl1pPr marL="0" indent="0">
              <a:buNone/>
              <a:defRPr sz="675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/>
              <a:t>Paragraph</a:t>
            </a:r>
            <a:endParaRPr lang="en-GB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09995E39-3B62-77B1-D2B0-6BE631D7E99E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520714" y="6906933"/>
            <a:ext cx="3259125" cy="1336927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Inter ExtraBold" panose="02000503000000020004" pitchFamily="2" charset="0"/>
                <a:ea typeface="Inter ExtraBold" panose="02000503000000020004" pitchFamily="2" charset="0"/>
              </a:defRPr>
            </a:lvl1pPr>
          </a:lstStyle>
          <a:p>
            <a:pPr lvl="0"/>
            <a:r>
              <a:rPr lang="en-US"/>
              <a:t>Key Item</a:t>
            </a:r>
            <a:endParaRPr lang="en-GB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6898EAD7-5BF7-8D19-DBBA-D5C0D045B196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520714" y="8330255"/>
            <a:ext cx="3259125" cy="1336927"/>
          </a:xfrm>
        </p:spPr>
        <p:txBody>
          <a:bodyPr>
            <a:normAutofit/>
          </a:bodyPr>
          <a:lstStyle>
            <a:lvl1pPr marL="0" indent="0">
              <a:buNone/>
              <a:defRPr sz="675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/>
              <a:t>Paragraph</a:t>
            </a:r>
            <a:endParaRPr lang="en-GB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A88C6C45-7168-3C2D-A30B-2CCB4343D5E1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520714" y="3965783"/>
            <a:ext cx="3259125" cy="1336927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  <a:latin typeface="Inter ExtraBold" panose="02000503000000020004" pitchFamily="2" charset="0"/>
                <a:ea typeface="Inter ExtraBold" panose="02000503000000020004" pitchFamily="2" charset="0"/>
              </a:defRPr>
            </a:lvl1pPr>
          </a:lstStyle>
          <a:p>
            <a:pPr lvl="0"/>
            <a:r>
              <a:rPr lang="en-US"/>
              <a:t>Key Item</a:t>
            </a:r>
            <a:endParaRPr lang="en-GB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E80F3A0A-4EF6-0A4A-04D2-64C017D79268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520714" y="5389105"/>
            <a:ext cx="3259125" cy="1336927"/>
          </a:xfrm>
        </p:spPr>
        <p:txBody>
          <a:bodyPr>
            <a:normAutofit/>
          </a:bodyPr>
          <a:lstStyle>
            <a:lvl1pPr marL="0" indent="0">
              <a:buNone/>
              <a:defRPr sz="675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/>
              <a:t>Paragraph</a:t>
            </a:r>
            <a:endParaRPr lang="en-GB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02BB017-0162-8FAF-269F-363D13B9821C}"/>
              </a:ext>
            </a:extLst>
          </p:cNvPr>
          <p:cNvGrpSpPr/>
          <p:nvPr userDrawn="1"/>
        </p:nvGrpSpPr>
        <p:grpSpPr>
          <a:xfrm>
            <a:off x="5871646" y="212499"/>
            <a:ext cx="1150818" cy="576000"/>
            <a:chOff x="5054135" y="958951"/>
            <a:chExt cx="1404852" cy="369460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883D5B2-F369-DFC0-0653-04281297EA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 preferRelativeResize="0">
              <a:picLocks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95" t="9360" r="56621" b="59313"/>
            <a:stretch/>
          </p:blipFill>
          <p:spPr>
            <a:xfrm>
              <a:off x="5054135" y="958951"/>
              <a:ext cx="703147" cy="36946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4E9A829-EBE0-9363-4344-501F366BF620}"/>
                </a:ext>
              </a:extLst>
            </p:cNvPr>
            <p:cNvSpPr txBox="1"/>
            <p:nvPr userDrawn="1"/>
          </p:nvSpPr>
          <p:spPr>
            <a:xfrm>
              <a:off x="5644339" y="1054844"/>
              <a:ext cx="814648" cy="177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chemeClr val="tx1"/>
                  </a:solidFill>
                  <a:latin typeface="Mulish SemiBold" pitchFamily="2" charset="0"/>
                  <a:ea typeface="Inter" panose="02000503000000020004" pitchFamily="2" charset="0"/>
                </a:rPr>
                <a:t>MSIG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23825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  <p15:guide id="3" pos="328" userDrawn="1">
          <p15:clr>
            <a:srgbClr val="FBAE40"/>
          </p15:clr>
        </p15:guide>
        <p15:guide id="4" pos="4434" userDrawn="1">
          <p15:clr>
            <a:srgbClr val="FBAE40"/>
          </p15:clr>
        </p15:guide>
        <p15:guide id="5" orient="horz" pos="645" userDrawn="1">
          <p15:clr>
            <a:srgbClr val="FBAE40"/>
          </p15:clr>
        </p15:guide>
        <p15:guide id="6" orient="horz" pos="60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FE83BF8-6408-D3CD-19B6-5B641563E341}"/>
              </a:ext>
            </a:extLst>
          </p:cNvPr>
          <p:cNvSpPr txBox="1"/>
          <p:nvPr userDrawn="1"/>
        </p:nvSpPr>
        <p:spPr>
          <a:xfrm>
            <a:off x="520100" y="1027089"/>
            <a:ext cx="3046774" cy="303726"/>
          </a:xfrm>
          <a:prstGeom prst="rect">
            <a:avLst/>
          </a:prstGeom>
          <a:solidFill>
            <a:schemeClr val="accent1"/>
          </a:solidFill>
        </p:spPr>
        <p:txBody>
          <a:bodyPr wrap="square" tIns="0" bIns="0" rtlCol="0">
            <a:spAutoFit/>
          </a:bodyPr>
          <a:lstStyle/>
          <a:p>
            <a:r>
              <a:rPr lang="en-GB" sz="1927">
                <a:solidFill>
                  <a:schemeClr val="bg1"/>
                </a:solidFill>
                <a:latin typeface="+mj-lt"/>
                <a:ea typeface="Inter ExtraBold" panose="02000503000000020004" pitchFamily="2" charset="0"/>
              </a:rPr>
              <a:t>Appendix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4AC67DF-E2FD-3D41-2BA6-8929D10AF129}"/>
              </a:ext>
            </a:extLst>
          </p:cNvPr>
          <p:cNvGrpSpPr/>
          <p:nvPr userDrawn="1"/>
        </p:nvGrpSpPr>
        <p:grpSpPr>
          <a:xfrm>
            <a:off x="5871646" y="212499"/>
            <a:ext cx="1150818" cy="576000"/>
            <a:chOff x="5054135" y="958951"/>
            <a:chExt cx="1404852" cy="36946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575F630-FCA4-4AA0-FFDD-BEE882EFC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 preferRelativeResize="0">
              <a:picLocks/>
            </p:cNvPicPr>
            <p:nvPr userDrawn="1"/>
          </p:nvPicPr>
          <p:blipFill rotWithShape="1">
            <a:blip r:embed="rId2">
              <a:duotone>
                <a:prstClr val="black"/>
                <a:schemeClr val="tx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12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95" t="9360" r="56621" b="59313"/>
            <a:stretch/>
          </p:blipFill>
          <p:spPr>
            <a:xfrm>
              <a:off x="5054135" y="958951"/>
              <a:ext cx="703147" cy="36946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EFB127A-BDC2-52E8-5C35-83D34FB994F2}"/>
                </a:ext>
              </a:extLst>
            </p:cNvPr>
            <p:cNvSpPr txBox="1"/>
            <p:nvPr userDrawn="1"/>
          </p:nvSpPr>
          <p:spPr>
            <a:xfrm>
              <a:off x="5644339" y="1054844"/>
              <a:ext cx="814648" cy="177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ulish SemiBold" pitchFamily="2" charset="0"/>
                  <a:ea typeface="Inter" panose="02000503000000020004" pitchFamily="2" charset="0"/>
                </a:rPr>
                <a:t>MSIG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B648253E-4960-49D5-1DAE-A6533F702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9"/>
          <a:stretch/>
        </p:blipFill>
        <p:spPr>
          <a:xfrm>
            <a:off x="0" y="1596789"/>
            <a:ext cx="2566264" cy="58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5006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  <p15:guide id="3" pos="328" userDrawn="1">
          <p15:clr>
            <a:srgbClr val="FBAE40"/>
          </p15:clr>
        </p15:guide>
        <p15:guide id="4" pos="4434" userDrawn="1">
          <p15:clr>
            <a:srgbClr val="FBAE40"/>
          </p15:clr>
        </p15:guide>
        <p15:guide id="5" orient="horz" pos="645" userDrawn="1">
          <p15:clr>
            <a:srgbClr val="FBAE40"/>
          </p15:clr>
        </p15:guide>
        <p15:guide id="6" orient="horz" pos="60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it and 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FE83BF8-6408-D3CD-19B6-5B641563E341}"/>
              </a:ext>
            </a:extLst>
          </p:cNvPr>
          <p:cNvSpPr txBox="1"/>
          <p:nvPr userDrawn="1"/>
        </p:nvSpPr>
        <p:spPr>
          <a:xfrm>
            <a:off x="520100" y="1027089"/>
            <a:ext cx="2422532" cy="398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927">
                <a:solidFill>
                  <a:schemeClr val="bg1"/>
                </a:solidFill>
                <a:latin typeface="+mj-lt"/>
                <a:ea typeface="Inter ExtraBold" panose="02000503000000020004" pitchFamily="2" charset="0"/>
              </a:rPr>
              <a:t>Thank-you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E95A5BC-0FE8-C406-9B91-730B5844F6E6}"/>
              </a:ext>
            </a:extLst>
          </p:cNvPr>
          <p:cNvGrpSpPr/>
          <p:nvPr userDrawn="1"/>
        </p:nvGrpSpPr>
        <p:grpSpPr>
          <a:xfrm>
            <a:off x="5871646" y="212499"/>
            <a:ext cx="1150818" cy="576000"/>
            <a:chOff x="5054135" y="958951"/>
            <a:chExt cx="1404852" cy="36946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C00FE8D-61B8-711A-D0A4-15D61CDE47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 preferRelativeResize="0">
              <a:picLocks/>
            </p:cNvPicPr>
            <p:nvPr userDrawn="1"/>
          </p:nvPicPr>
          <p:blipFill rotWithShape="1">
            <a:blip r:embed="rId2">
              <a:duotone>
                <a:prstClr val="black"/>
                <a:schemeClr val="tx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12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95" t="9360" r="56621" b="59313"/>
            <a:stretch/>
          </p:blipFill>
          <p:spPr>
            <a:xfrm>
              <a:off x="5054135" y="958951"/>
              <a:ext cx="703147" cy="36946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FED484C-B858-599A-267C-AA8A6CC2E863}"/>
                </a:ext>
              </a:extLst>
            </p:cNvPr>
            <p:cNvSpPr txBox="1"/>
            <p:nvPr userDrawn="1"/>
          </p:nvSpPr>
          <p:spPr>
            <a:xfrm>
              <a:off x="5644339" y="1054844"/>
              <a:ext cx="814648" cy="1776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ulish SemiBold" pitchFamily="2" charset="0"/>
                  <a:ea typeface="Inter" panose="02000503000000020004" pitchFamily="2" charset="0"/>
                </a:rPr>
                <a:t>MSIG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A6FB260C-17F4-4F6C-A881-A1317B561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720"/>
          <a:stretch/>
        </p:blipFill>
        <p:spPr>
          <a:xfrm>
            <a:off x="1037230" y="2498098"/>
            <a:ext cx="6522445" cy="479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686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  <p15:guide id="3" pos="328" userDrawn="1">
          <p15:clr>
            <a:srgbClr val="FBAE40"/>
          </p15:clr>
        </p15:guide>
        <p15:guide id="4" pos="4434" userDrawn="1">
          <p15:clr>
            <a:srgbClr val="FBAE40"/>
          </p15:clr>
        </p15:guide>
        <p15:guide id="5" orient="horz" pos="645" userDrawn="1">
          <p15:clr>
            <a:srgbClr val="FBAE40"/>
          </p15:clr>
        </p15:guide>
        <p15:guide id="6" orient="horz" pos="609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CC3DBF-CA17-6DC5-FB3B-AAD018BE6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100" y="1027088"/>
            <a:ext cx="6520220" cy="9471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C351C-1A2F-F3F9-176F-1CDE5F7C9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9729" y="2700977"/>
            <a:ext cx="6520220" cy="6929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Heading One</a:t>
            </a:r>
          </a:p>
          <a:p>
            <a:pPr lvl="1"/>
            <a:r>
              <a:rPr lang="en-US"/>
              <a:t>Heading two</a:t>
            </a:r>
          </a:p>
          <a:p>
            <a:pPr lvl="2"/>
            <a:r>
              <a:rPr lang="en-US"/>
              <a:t>Heading three</a:t>
            </a:r>
          </a:p>
          <a:p>
            <a:pPr lvl="3"/>
            <a:r>
              <a:rPr lang="en-US"/>
              <a:t>Paragraph</a:t>
            </a:r>
          </a:p>
          <a:p>
            <a:pPr lvl="3"/>
            <a:endParaRPr lang="en-US"/>
          </a:p>
          <a:p>
            <a:pPr lvl="3"/>
            <a:endParaRPr lang="en-US"/>
          </a:p>
          <a:p>
            <a:pPr lvl="3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B6CD4-2037-2E35-2091-278FA8D4D2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9730" y="9833102"/>
            <a:ext cx="796891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</a:lstStyle>
          <a:p>
            <a:r>
              <a:rPr lang="en-US"/>
              <a:t>13th August 2025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0ED56-3CFE-0A7D-F462-E747B65C0D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4144" y="9833102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</a:lstStyle>
          <a:p>
            <a:r>
              <a:rPr lang="en-GB"/>
              <a:t>International Assessment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3F7C1-2E62-AD68-F8B6-D8A4A468E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42459" y="9833102"/>
            <a:ext cx="797488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</a:lstStyle>
          <a:p>
            <a:fld id="{4DF9FF28-5A91-4D68-B6A1-07C42CEB1AA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520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29" r:id="rId2"/>
    <p:sldLayoutId id="2147483832" r:id="rId3"/>
    <p:sldLayoutId id="2147483835" r:id="rId4"/>
    <p:sldLayoutId id="2147483836" r:id="rId5"/>
    <p:sldLayoutId id="2147483820" r:id="rId6"/>
    <p:sldLayoutId id="2147483831" r:id="rId7"/>
    <p:sldLayoutId id="2147483791" r:id="rId8"/>
    <p:sldLayoutId id="2147483830" r:id="rId9"/>
    <p:sldLayoutId id="2147483828" r:id="rId10"/>
    <p:sldLayoutId id="2147483833" r:id="rId11"/>
    <p:sldLayoutId id="2147483834" r:id="rId12"/>
    <p:sldLayoutId id="2147483821" r:id="rId13"/>
    <p:sldLayoutId id="2147483809" r:id="rId14"/>
    <p:sldLayoutId id="2147483796" r:id="rId15"/>
  </p:sldLayoutIdLst>
  <p:hf hdr="0"/>
  <p:txStyles>
    <p:titleStyle>
      <a:lvl1pPr algn="l" defTabSz="440438" rtl="0" eaLnBrk="1" latinLnBrk="0" hangingPunct="1">
        <a:lnSpc>
          <a:spcPct val="90000"/>
        </a:lnSpc>
        <a:spcBef>
          <a:spcPct val="0"/>
        </a:spcBef>
        <a:buNone/>
        <a:defRPr sz="1927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0110" indent="-110110" algn="l" defTabSz="440438" rtl="0" eaLnBrk="1" latinLnBrk="0" hangingPunct="1">
        <a:lnSpc>
          <a:spcPct val="90000"/>
        </a:lnSpc>
        <a:spcBef>
          <a:spcPts val="482"/>
        </a:spcBef>
        <a:buFont typeface="Arial" panose="020B0604020202020204" pitchFamily="34" charset="0"/>
        <a:buChar char="•"/>
        <a:defRPr sz="1734" kern="1200">
          <a:solidFill>
            <a:schemeClr val="tx1"/>
          </a:solidFill>
          <a:latin typeface="Inter SemiBold" panose="02000503000000020004" pitchFamily="2" charset="0"/>
          <a:ea typeface="Inter SemiBold" panose="02000503000000020004" pitchFamily="2" charset="0"/>
          <a:cs typeface="+mn-cs"/>
        </a:defRPr>
      </a:lvl1pPr>
      <a:lvl2pPr marL="330329" indent="-110110" algn="l" defTabSz="440438" rtl="0" eaLnBrk="1" latinLnBrk="0" hangingPunct="1">
        <a:lnSpc>
          <a:spcPct val="90000"/>
        </a:lnSpc>
        <a:spcBef>
          <a:spcPts val="241"/>
        </a:spcBef>
        <a:buFont typeface="Arial" panose="020B0604020202020204" pitchFamily="34" charset="0"/>
        <a:buChar char="•"/>
        <a:defRPr sz="1349" b="0" kern="1200">
          <a:solidFill>
            <a:schemeClr val="tx1"/>
          </a:solidFill>
          <a:latin typeface="Inter" panose="02000503000000020004"/>
          <a:ea typeface="Inter" panose="02000503000000020004" pitchFamily="2" charset="0"/>
          <a:cs typeface="+mn-cs"/>
        </a:defRPr>
      </a:lvl2pPr>
      <a:lvl3pPr marL="550548" indent="-110110" algn="l" defTabSz="440438" rtl="0" eaLnBrk="1" latinLnBrk="0" hangingPunct="1">
        <a:lnSpc>
          <a:spcPct val="90000"/>
        </a:lnSpc>
        <a:spcBef>
          <a:spcPts val="241"/>
        </a:spcBef>
        <a:buFont typeface="Arial" panose="020B0604020202020204" pitchFamily="34" charset="0"/>
        <a:buChar char="•"/>
        <a:defRPr sz="963" b="0" kern="1200">
          <a:solidFill>
            <a:schemeClr val="tx1"/>
          </a:solidFill>
          <a:latin typeface="Inter" panose="02000503000000020004"/>
          <a:ea typeface="Inter" panose="02000503000000020004" pitchFamily="2" charset="0"/>
          <a:cs typeface="+mn-cs"/>
        </a:defRPr>
      </a:lvl3pPr>
      <a:lvl4pPr marL="770767" indent="-110110" algn="l" defTabSz="440438" rtl="0" eaLnBrk="1" latinLnBrk="0" hangingPunct="1">
        <a:lnSpc>
          <a:spcPct val="90000"/>
        </a:lnSpc>
        <a:spcBef>
          <a:spcPts val="241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Inter" panose="02000503000000020004"/>
          <a:ea typeface="Inter" panose="02000503000000020004" pitchFamily="2" charset="0"/>
          <a:cs typeface="+mn-cs"/>
        </a:defRPr>
      </a:lvl4pPr>
      <a:lvl5pPr marL="990986" indent="-110110" algn="l" defTabSz="440438" rtl="0" eaLnBrk="1" latinLnBrk="0" hangingPunct="1">
        <a:lnSpc>
          <a:spcPct val="90000"/>
        </a:lnSpc>
        <a:spcBef>
          <a:spcPts val="241"/>
        </a:spcBef>
        <a:buFont typeface="Arial" panose="020B0604020202020204" pitchFamily="34" charset="0"/>
        <a:buChar char="•"/>
        <a:defRPr sz="867" kern="1200">
          <a:solidFill>
            <a:schemeClr val="bg1"/>
          </a:solidFill>
          <a:latin typeface="+mn-lt"/>
          <a:ea typeface="+mn-ea"/>
          <a:cs typeface="+mn-cs"/>
        </a:defRPr>
      </a:lvl5pPr>
      <a:lvl6pPr marL="1211205" indent="-110110" algn="l" defTabSz="440438" rtl="0" eaLnBrk="1" latinLnBrk="0" hangingPunct="1">
        <a:lnSpc>
          <a:spcPct val="90000"/>
        </a:lnSpc>
        <a:spcBef>
          <a:spcPts val="241"/>
        </a:spcBef>
        <a:buFont typeface="Arial" panose="020B0604020202020204" pitchFamily="34" charset="0"/>
        <a:buChar char="•"/>
        <a:defRPr sz="867" kern="1200">
          <a:solidFill>
            <a:schemeClr val="tx1"/>
          </a:solidFill>
          <a:latin typeface="+mn-lt"/>
          <a:ea typeface="+mn-ea"/>
          <a:cs typeface="+mn-cs"/>
        </a:defRPr>
      </a:lvl6pPr>
      <a:lvl7pPr marL="1431424" indent="-110110" algn="l" defTabSz="440438" rtl="0" eaLnBrk="1" latinLnBrk="0" hangingPunct="1">
        <a:lnSpc>
          <a:spcPct val="90000"/>
        </a:lnSpc>
        <a:spcBef>
          <a:spcPts val="241"/>
        </a:spcBef>
        <a:buFont typeface="Arial" panose="020B0604020202020204" pitchFamily="34" charset="0"/>
        <a:buChar char="•"/>
        <a:defRPr sz="867" kern="1200">
          <a:solidFill>
            <a:schemeClr val="tx1"/>
          </a:solidFill>
          <a:latin typeface="+mn-lt"/>
          <a:ea typeface="+mn-ea"/>
          <a:cs typeface="+mn-cs"/>
        </a:defRPr>
      </a:lvl7pPr>
      <a:lvl8pPr marL="1651643" indent="-110110" algn="l" defTabSz="440438" rtl="0" eaLnBrk="1" latinLnBrk="0" hangingPunct="1">
        <a:lnSpc>
          <a:spcPct val="90000"/>
        </a:lnSpc>
        <a:spcBef>
          <a:spcPts val="241"/>
        </a:spcBef>
        <a:buFont typeface="Arial" panose="020B0604020202020204" pitchFamily="34" charset="0"/>
        <a:buChar char="•"/>
        <a:defRPr sz="867" kern="1200">
          <a:solidFill>
            <a:schemeClr val="tx1"/>
          </a:solidFill>
          <a:latin typeface="+mn-lt"/>
          <a:ea typeface="+mn-ea"/>
          <a:cs typeface="+mn-cs"/>
        </a:defRPr>
      </a:lvl8pPr>
      <a:lvl9pPr marL="1871862" indent="-110110" algn="l" defTabSz="440438" rtl="0" eaLnBrk="1" latinLnBrk="0" hangingPunct="1">
        <a:lnSpc>
          <a:spcPct val="90000"/>
        </a:lnSpc>
        <a:spcBef>
          <a:spcPts val="241"/>
        </a:spcBef>
        <a:buFont typeface="Arial" panose="020B0604020202020204" pitchFamily="34" charset="0"/>
        <a:buChar char="•"/>
        <a:defRPr sz="8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40438" rtl="0" eaLnBrk="1" latinLnBrk="0" hangingPunct="1">
        <a:defRPr sz="867" kern="1200">
          <a:solidFill>
            <a:schemeClr val="tx1"/>
          </a:solidFill>
          <a:latin typeface="+mn-lt"/>
          <a:ea typeface="+mn-ea"/>
          <a:cs typeface="+mn-cs"/>
        </a:defRPr>
      </a:lvl1pPr>
      <a:lvl2pPr marL="220219" algn="l" defTabSz="440438" rtl="0" eaLnBrk="1" latinLnBrk="0" hangingPunct="1">
        <a:defRPr sz="867" kern="1200">
          <a:solidFill>
            <a:schemeClr val="tx1"/>
          </a:solidFill>
          <a:latin typeface="+mn-lt"/>
          <a:ea typeface="+mn-ea"/>
          <a:cs typeface="+mn-cs"/>
        </a:defRPr>
      </a:lvl2pPr>
      <a:lvl3pPr marL="440438" algn="l" defTabSz="440438" rtl="0" eaLnBrk="1" latinLnBrk="0" hangingPunct="1">
        <a:defRPr sz="867" kern="1200">
          <a:solidFill>
            <a:schemeClr val="tx1"/>
          </a:solidFill>
          <a:latin typeface="+mn-lt"/>
          <a:ea typeface="+mn-ea"/>
          <a:cs typeface="+mn-cs"/>
        </a:defRPr>
      </a:lvl3pPr>
      <a:lvl4pPr marL="660657" algn="l" defTabSz="440438" rtl="0" eaLnBrk="1" latinLnBrk="0" hangingPunct="1">
        <a:defRPr sz="867" kern="1200">
          <a:solidFill>
            <a:schemeClr val="tx1"/>
          </a:solidFill>
          <a:latin typeface="+mn-lt"/>
          <a:ea typeface="+mn-ea"/>
          <a:cs typeface="+mn-cs"/>
        </a:defRPr>
      </a:lvl4pPr>
      <a:lvl5pPr marL="880876" algn="l" defTabSz="440438" rtl="0" eaLnBrk="1" latinLnBrk="0" hangingPunct="1">
        <a:defRPr sz="867" kern="1200">
          <a:solidFill>
            <a:schemeClr val="tx1"/>
          </a:solidFill>
          <a:latin typeface="+mn-lt"/>
          <a:ea typeface="+mn-ea"/>
          <a:cs typeface="+mn-cs"/>
        </a:defRPr>
      </a:lvl5pPr>
      <a:lvl6pPr marL="1101095" algn="l" defTabSz="440438" rtl="0" eaLnBrk="1" latinLnBrk="0" hangingPunct="1">
        <a:defRPr sz="867" kern="1200">
          <a:solidFill>
            <a:schemeClr val="tx1"/>
          </a:solidFill>
          <a:latin typeface="+mn-lt"/>
          <a:ea typeface="+mn-ea"/>
          <a:cs typeface="+mn-cs"/>
        </a:defRPr>
      </a:lvl6pPr>
      <a:lvl7pPr marL="1321314" algn="l" defTabSz="440438" rtl="0" eaLnBrk="1" latinLnBrk="0" hangingPunct="1">
        <a:defRPr sz="867" kern="1200">
          <a:solidFill>
            <a:schemeClr val="tx1"/>
          </a:solidFill>
          <a:latin typeface="+mn-lt"/>
          <a:ea typeface="+mn-ea"/>
          <a:cs typeface="+mn-cs"/>
        </a:defRPr>
      </a:lvl7pPr>
      <a:lvl8pPr marL="1541533" algn="l" defTabSz="440438" rtl="0" eaLnBrk="1" latinLnBrk="0" hangingPunct="1">
        <a:defRPr sz="867" kern="1200">
          <a:solidFill>
            <a:schemeClr val="tx1"/>
          </a:solidFill>
          <a:latin typeface="+mn-lt"/>
          <a:ea typeface="+mn-ea"/>
          <a:cs typeface="+mn-cs"/>
        </a:defRPr>
      </a:lvl8pPr>
      <a:lvl9pPr marL="1761752" algn="l" defTabSz="440438" rtl="0" eaLnBrk="1" latinLnBrk="0" hangingPunct="1">
        <a:defRPr sz="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368" userDrawn="1">
          <p15:clr>
            <a:srgbClr val="F26B43"/>
          </p15:clr>
        </p15:guide>
        <p15:guide id="2" pos="238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3F218-BB69-6A6F-B02E-DBA3950F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38F7B6B2-8B22-B2E2-CC1A-68946891D421}"/>
              </a:ext>
            </a:extLst>
          </p:cNvPr>
          <p:cNvSpPr/>
          <p:nvPr/>
        </p:nvSpPr>
        <p:spPr>
          <a:xfrm>
            <a:off x="518400" y="3887089"/>
            <a:ext cx="6516000" cy="162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00" dirty="0">
                <a:solidFill>
                  <a:schemeClr val="tx1"/>
                </a:solidFill>
                <a:latin typeface="Aptos SemiBold" panose="020B0004020202020204" pitchFamily="34" charset="0"/>
              </a:rPr>
              <a:t>Key findings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3F38CC48-656A-E2A6-87B6-C5A57C98294E}"/>
              </a:ext>
            </a:extLst>
          </p:cNvPr>
          <p:cNvSpPr txBox="1">
            <a:spLocks/>
          </p:cNvSpPr>
          <p:nvPr/>
        </p:nvSpPr>
        <p:spPr>
          <a:xfrm>
            <a:off x="518400" y="712800"/>
            <a:ext cx="5408468" cy="720000"/>
          </a:xfrm>
          <a:prstGeom prst="rect">
            <a:avLst/>
          </a:prstGeom>
        </p:spPr>
        <p:txBody>
          <a:bodyPr lIns="0" anchor="b"/>
          <a:lstStyle>
            <a:lvl1pPr algn="l" defTabSz="4404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27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600" dirty="0"/>
              <a:t>Digital Signal Intelligence</a:t>
            </a:r>
          </a:p>
          <a:p>
            <a:r>
              <a:rPr lang="en-GB" sz="1600" dirty="0"/>
              <a:t>Client Analysis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7C82407-6180-372B-F5C5-62EAB30104E7}"/>
              </a:ext>
            </a:extLst>
          </p:cNvPr>
          <p:cNvSpPr txBox="1">
            <a:spLocks/>
          </p:cNvSpPr>
          <p:nvPr/>
        </p:nvSpPr>
        <p:spPr>
          <a:xfrm>
            <a:off x="519728" y="1436818"/>
            <a:ext cx="6516000" cy="155821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Inter" panose="02000503000000020004"/>
                <a:ea typeface="Inter" panose="02000503000000020004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Inter" panose="02000503000000020004"/>
                <a:ea typeface="Inter" panose="02000503000000020004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Inter" panose="02000503000000020004"/>
                <a:ea typeface="Inter" panose="02000503000000020004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800" dirty="0">
                <a:latin typeface="Aptos" panose="020B0004020202020204" pitchFamily="34" charset="0"/>
                <a:ea typeface="Inter" panose="02000503000000020004" pitchFamily="2" charset="0"/>
              </a:rPr>
              <a:t>Sample Comprehensive Risk Assessment Report</a:t>
            </a:r>
          </a:p>
        </p:txBody>
      </p:sp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F9FB0708-344C-DCAB-6D0B-8429B09D3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629280"/>
              </p:ext>
            </p:extLst>
          </p:nvPr>
        </p:nvGraphicFramePr>
        <p:xfrm>
          <a:off x="643505" y="4106747"/>
          <a:ext cx="6265791" cy="128016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350905">
                  <a:extLst>
                    <a:ext uri="{9D8B030D-6E8A-4147-A177-3AD203B41FA5}">
                      <a16:colId xmlns:a16="http://schemas.microsoft.com/office/drawing/2014/main" val="2257664646"/>
                    </a:ext>
                  </a:extLst>
                </a:gridCol>
                <a:gridCol w="5914886">
                  <a:extLst>
                    <a:ext uri="{9D8B030D-6E8A-4147-A177-3AD203B41FA5}">
                      <a16:colId xmlns:a16="http://schemas.microsoft.com/office/drawing/2014/main" val="3935033781"/>
                    </a:ext>
                  </a:extLst>
                </a:gridCol>
              </a:tblGrid>
              <a:tr h="128949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accent3"/>
                          </a:solidFill>
                          <a:latin typeface="+mn-lt"/>
                          <a:ea typeface="Inter" panose="02000503000000020004" pitchFamily="2" charset="0"/>
                        </a:rPr>
                        <a:t>⮽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Weak digital maturity: fragmented web presence, no major transformation initiatives</a:t>
                      </a:r>
                    </a:p>
                  </a:txBody>
                  <a:tcPr marL="0" marT="0" marB="0"/>
                </a:tc>
                <a:extLst>
                  <a:ext uri="{0D108BD9-81ED-4DB2-BD59-A6C34878D82A}">
                    <a16:rowId xmlns:a16="http://schemas.microsoft.com/office/drawing/2014/main" val="847451146"/>
                  </a:ext>
                </a:extLst>
              </a:tr>
              <a:tr h="128949">
                <a:tc>
                  <a:txBody>
                    <a:bodyPr/>
                    <a:lstStyle/>
                    <a:p>
                      <a:pPr marL="0" marR="0" lvl="0" indent="0" algn="ctr" defTabSz="4404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accent3"/>
                          </a:solidFill>
                          <a:latin typeface="+mn-lt"/>
                          <a:ea typeface="Inter" panose="02000503000000020004" pitchFamily="2" charset="0"/>
                        </a:rPr>
                        <a:t>⮽</a:t>
                      </a:r>
                      <a:endParaRPr lang="en-GB" sz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Poor governance transparency: minimal public disclosure of board/management structure</a:t>
                      </a:r>
                    </a:p>
                  </a:txBody>
                  <a:tcPr marL="0" marT="0" marB="0"/>
                </a:tc>
                <a:extLst>
                  <a:ext uri="{0D108BD9-81ED-4DB2-BD59-A6C34878D82A}">
                    <a16:rowId xmlns:a16="http://schemas.microsoft.com/office/drawing/2014/main" val="3920993623"/>
                  </a:ext>
                </a:extLst>
              </a:tr>
              <a:tr h="128949">
                <a:tc>
                  <a:txBody>
                    <a:bodyPr/>
                    <a:lstStyle/>
                    <a:p>
                      <a:pPr marL="0" marR="0" lvl="0" indent="0" algn="ctr" defTabSz="4404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accent3"/>
                          </a:solidFill>
                          <a:latin typeface="+mn-lt"/>
                          <a:ea typeface="Inter" panose="02000503000000020004" pitchFamily="2" charset="0"/>
                        </a:rPr>
                        <a:t>⮽</a:t>
                      </a:r>
                      <a:endParaRPr lang="en-GB" sz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Limited innovation signals: weak R&amp;D visibility, stagnant digital evolution</a:t>
                      </a:r>
                    </a:p>
                  </a:txBody>
                  <a:tcPr marL="0" marT="0" marB="0"/>
                </a:tc>
                <a:extLst>
                  <a:ext uri="{0D108BD9-81ED-4DB2-BD59-A6C34878D82A}">
                    <a16:rowId xmlns:a16="http://schemas.microsoft.com/office/drawing/2014/main" val="2288398457"/>
                  </a:ext>
                </a:extLst>
              </a:tr>
              <a:tr h="128949">
                <a:tc>
                  <a:txBody>
                    <a:bodyPr/>
                    <a:lstStyle/>
                    <a:p>
                      <a:pPr marL="0" marR="0" lvl="0" indent="0" algn="ctr" defTabSz="4404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FFC000"/>
                          </a:solidFill>
                          <a:latin typeface="+mn-lt"/>
                          <a:ea typeface="Inter" panose="02000503000000020004" pitchFamily="2" charset="0"/>
                        </a:rPr>
                        <a:t>∆</a:t>
                      </a:r>
                      <a:endParaRPr lang="en-GB" sz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Financial stress indicators: well-documented debt challenges, subsidies burden</a:t>
                      </a:r>
                    </a:p>
                  </a:txBody>
                  <a:tcPr marL="0" marT="0" marB="0"/>
                </a:tc>
                <a:extLst>
                  <a:ext uri="{0D108BD9-81ED-4DB2-BD59-A6C34878D82A}">
                    <a16:rowId xmlns:a16="http://schemas.microsoft.com/office/drawing/2014/main" val="983309919"/>
                  </a:ext>
                </a:extLst>
              </a:tr>
              <a:tr h="128949">
                <a:tc>
                  <a:txBody>
                    <a:bodyPr/>
                    <a:lstStyle/>
                    <a:p>
                      <a:pPr marL="0" marR="0" lvl="0" indent="0" algn="ctr" defTabSz="4404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FFC000"/>
                          </a:solidFill>
                          <a:latin typeface="+mn-lt"/>
                          <a:ea typeface="Inter" panose="02000503000000020004" pitchFamily="2" charset="0"/>
                        </a:rPr>
                        <a:t>∆</a:t>
                      </a:r>
                      <a:endParaRPr lang="en-GB" sz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Network isolation: intermediated procurement (PPI) reduces direct partnership visibility</a:t>
                      </a:r>
                    </a:p>
                  </a:txBody>
                  <a:tcPr marL="0" marT="0" marB="0"/>
                </a:tc>
                <a:extLst>
                  <a:ext uri="{0D108BD9-81ED-4DB2-BD59-A6C34878D82A}">
                    <a16:rowId xmlns:a16="http://schemas.microsoft.com/office/drawing/2014/main" val="349970703"/>
                  </a:ext>
                </a:extLst>
              </a:tr>
              <a:tr h="128949">
                <a:tc>
                  <a:txBody>
                    <a:bodyPr/>
                    <a:lstStyle/>
                    <a:p>
                      <a:pPr marL="0" marR="0" lvl="0" indent="0" algn="ctr" defTabSz="4404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FFC000"/>
                          </a:solidFill>
                          <a:latin typeface="+mn-lt"/>
                          <a:ea typeface="Inter" panose="02000503000000020004" pitchFamily="2" charset="0"/>
                        </a:rPr>
                        <a:t>∆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State ownership provides stability but limits transparency and agility</a:t>
                      </a:r>
                    </a:p>
                  </a:txBody>
                  <a:tcPr marL="0" marT="0" marB="0"/>
                </a:tc>
                <a:extLst>
                  <a:ext uri="{0D108BD9-81ED-4DB2-BD59-A6C34878D82A}">
                    <a16:rowId xmlns:a16="http://schemas.microsoft.com/office/drawing/2014/main" val="7622563"/>
                  </a:ext>
                </a:extLst>
              </a:tr>
              <a:tr h="128949">
                <a:tc>
                  <a:txBody>
                    <a:bodyPr/>
                    <a:lstStyle/>
                    <a:p>
                      <a:pPr marL="0" marR="0" lvl="0" indent="0" algn="ctr" defTabSz="4404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☑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Established domain presence and basic infrastructure in place</a:t>
                      </a:r>
                    </a:p>
                  </a:txBody>
                  <a:tcPr marL="0" marT="0" marB="0"/>
                </a:tc>
                <a:extLst>
                  <a:ext uri="{0D108BD9-81ED-4DB2-BD59-A6C34878D82A}">
                    <a16:rowId xmlns:a16="http://schemas.microsoft.com/office/drawing/2014/main" val="4163372133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CD7FBE21-CFAF-318B-3B34-DC3DF288258E}"/>
              </a:ext>
            </a:extLst>
          </p:cNvPr>
          <p:cNvGrpSpPr/>
          <p:nvPr/>
        </p:nvGrpSpPr>
        <p:grpSpPr>
          <a:xfrm>
            <a:off x="518400" y="1638000"/>
            <a:ext cx="6516000" cy="2189949"/>
            <a:chOff x="518400" y="1522196"/>
            <a:chExt cx="6516000" cy="218994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90BDDF3-397C-E697-3175-8F1E3E5E797B}"/>
                </a:ext>
              </a:extLst>
            </p:cNvPr>
            <p:cNvSpPr/>
            <p:nvPr/>
          </p:nvSpPr>
          <p:spPr>
            <a:xfrm>
              <a:off x="518400" y="1522196"/>
              <a:ext cx="6516000" cy="21899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pt-BR" sz="1200" b="1" dirty="0">
                  <a:solidFill>
                    <a:schemeClr val="tx1"/>
                  </a:solidFill>
                </a:rPr>
                <a:t>Petróleos Mexicanos (PEMEX)</a:t>
              </a:r>
              <a:br>
                <a:rPr lang="pt-BR" sz="1200" b="1" dirty="0">
                  <a:solidFill>
                    <a:schemeClr val="tx1"/>
                  </a:solidFill>
                </a:rPr>
              </a:br>
              <a:endParaRPr lang="pt-BR" sz="1200" b="1" dirty="0">
                <a:solidFill>
                  <a:schemeClr val="tx1"/>
                </a:solidFill>
              </a:endParaRPr>
            </a:p>
            <a:p>
              <a:r>
                <a:rPr lang="en-GB" sz="1000" dirty="0">
                  <a:solidFill>
                    <a:schemeClr val="tx1"/>
                  </a:solidFill>
                  <a:latin typeface="Aptos SemiBold" panose="020B0004020202020204" pitchFamily="34" charset="0"/>
                </a:rPr>
                <a:t>Overview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4109F93-F9A3-FF36-6C1C-584B31A454E4}"/>
                </a:ext>
              </a:extLst>
            </p:cNvPr>
            <p:cNvSpPr/>
            <p:nvPr/>
          </p:nvSpPr>
          <p:spPr>
            <a:xfrm>
              <a:off x="643505" y="2115862"/>
              <a:ext cx="1476000" cy="432000"/>
            </a:xfrm>
            <a:prstGeom prst="rect">
              <a:avLst/>
            </a:prstGeom>
            <a:solidFill>
              <a:srgbClr val="FFC000">
                <a:alpha val="14000"/>
              </a:srgbClr>
            </a:solidFill>
            <a:ln w="635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Composite score</a:t>
              </a:r>
              <a:br>
                <a:rPr lang="en-GB" sz="800" dirty="0">
                  <a:solidFill>
                    <a:schemeClr val="accent1"/>
                  </a:solidFill>
                  <a:latin typeface="Aptos ExtraBold" panose="020B0004020202020204" pitchFamily="34" charset="0"/>
                </a:rPr>
              </a:br>
              <a:r>
                <a:rPr lang="en-GB" sz="1000" dirty="0">
                  <a:solidFill>
                    <a:schemeClr val="tx1"/>
                  </a:solidFill>
                  <a:latin typeface="Aptos ExtraBold" panose="020B0004020202020204" pitchFamily="34" charset="0"/>
                </a:rPr>
                <a:t>542</a:t>
              </a:r>
            </a:p>
            <a:p>
              <a:pPr algn="ctr"/>
              <a:r>
                <a:rPr lang="en-GB" sz="600" dirty="0"/>
                <a:t>71% confidence 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CFDD8E7-23C6-F0F3-C6E5-5DC28E34D0D9}"/>
                </a:ext>
              </a:extLst>
            </p:cNvPr>
            <p:cNvSpPr/>
            <p:nvPr/>
          </p:nvSpPr>
          <p:spPr>
            <a:xfrm>
              <a:off x="2240102" y="2115862"/>
              <a:ext cx="1476000" cy="432000"/>
            </a:xfrm>
            <a:prstGeom prst="rect">
              <a:avLst/>
            </a:prstGeom>
            <a:solidFill>
              <a:schemeClr val="tx2">
                <a:lumMod val="20000"/>
                <a:lumOff val="80000"/>
                <a:alpha val="30000"/>
              </a:schemeClr>
            </a:solidFill>
            <a:ln w="635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Digital maturity</a:t>
              </a:r>
              <a:br>
                <a:rPr lang="en-GB" sz="800" dirty="0">
                  <a:solidFill>
                    <a:schemeClr val="accent1"/>
                  </a:solidFill>
                  <a:latin typeface="Aptos ExtraBold" panose="020B0004020202020204" pitchFamily="34" charset="0"/>
                </a:rPr>
              </a:br>
              <a:r>
                <a:rPr lang="en-GB" sz="1000" dirty="0">
                  <a:solidFill>
                    <a:schemeClr val="tx1"/>
                  </a:solidFill>
                  <a:latin typeface="Aptos ExtraBold" panose="020B0004020202020204" pitchFamily="34" charset="0"/>
                </a:rPr>
                <a:t>518</a:t>
              </a:r>
            </a:p>
            <a:p>
              <a:pPr algn="ctr"/>
              <a:r>
                <a:rPr lang="en-GB" sz="600" dirty="0"/>
                <a:t> 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8B3B99C-EFB8-8B46-8BC8-B3EAA61EBCCF}"/>
                </a:ext>
              </a:extLst>
            </p:cNvPr>
            <p:cNvSpPr/>
            <p:nvPr/>
          </p:nvSpPr>
          <p:spPr>
            <a:xfrm>
              <a:off x="3836699" y="2115862"/>
              <a:ext cx="1476000" cy="432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30000"/>
              </a:schemeClr>
            </a:solidFill>
            <a:ln w="6350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Network quality</a:t>
              </a:r>
              <a:br>
                <a:rPr lang="en-GB" sz="800" dirty="0">
                  <a:solidFill>
                    <a:schemeClr val="tx1"/>
                  </a:solidFill>
                  <a:latin typeface="Aptos ExtraBold" panose="020B0004020202020204" pitchFamily="34" charset="0"/>
                </a:rPr>
              </a:br>
              <a:r>
                <a:rPr lang="en-GB" sz="1000" dirty="0">
                  <a:solidFill>
                    <a:schemeClr val="tx1"/>
                  </a:solidFill>
                  <a:latin typeface="Aptos ExtraBold" panose="020B0004020202020204" pitchFamily="34" charset="0"/>
                </a:rPr>
                <a:t>587</a:t>
              </a:r>
            </a:p>
            <a:p>
              <a:pPr algn="ctr"/>
              <a:r>
                <a:rPr lang="en-GB" sz="600" dirty="0"/>
                <a:t> 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9C40DD3-8724-285B-BE67-74FAF4318286}"/>
                </a:ext>
              </a:extLst>
            </p:cNvPr>
            <p:cNvSpPr/>
            <p:nvPr/>
          </p:nvSpPr>
          <p:spPr>
            <a:xfrm>
              <a:off x="5433296" y="2115862"/>
              <a:ext cx="1476000" cy="432000"/>
            </a:xfrm>
            <a:prstGeom prst="rect">
              <a:avLst/>
            </a:prstGeom>
            <a:solidFill>
              <a:schemeClr val="bg2">
                <a:lumMod val="90000"/>
                <a:alpha val="30000"/>
              </a:schemeClr>
            </a:solidFill>
            <a:ln w="63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Infrastructure</a:t>
              </a:r>
              <a:br>
                <a:rPr lang="en-GB" sz="800" dirty="0">
                  <a:solidFill>
                    <a:schemeClr val="tx1"/>
                  </a:solidFill>
                  <a:latin typeface="Aptos ExtraBold" panose="020B0004020202020204" pitchFamily="34" charset="0"/>
                </a:rPr>
              </a:br>
              <a:r>
                <a:rPr lang="en-GB" sz="1000" dirty="0">
                  <a:solidFill>
                    <a:schemeClr val="tx1"/>
                  </a:solidFill>
                  <a:latin typeface="Aptos ExtraBold" panose="020B0004020202020204" pitchFamily="34" charset="0"/>
                </a:rPr>
                <a:t>521</a:t>
              </a:r>
            </a:p>
            <a:p>
              <a:pPr algn="ctr"/>
              <a:r>
                <a:rPr lang="en-GB" sz="600" dirty="0"/>
                <a:t> 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CDC6CA9-5D84-BB54-91D7-6E427E1603A2}"/>
                </a:ext>
              </a:extLst>
            </p:cNvPr>
            <p:cNvSpPr/>
            <p:nvPr/>
          </p:nvSpPr>
          <p:spPr>
            <a:xfrm>
              <a:off x="643505" y="2647086"/>
              <a:ext cx="2016000" cy="432000"/>
            </a:xfrm>
            <a:prstGeom prst="rect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72000" tIns="0" rIns="0" bIns="0" rtlCol="0" anchor="ctr"/>
            <a:lstStyle/>
            <a:p>
              <a:r>
                <a:rPr lang="en-GB" sz="800" dirty="0">
                  <a:solidFill>
                    <a:schemeClr val="tx1"/>
                  </a:solidFill>
                </a:rPr>
                <a:t>Risk tier</a:t>
              </a:r>
              <a:br>
                <a:rPr lang="en-GB" sz="800" dirty="0">
                  <a:solidFill>
                    <a:schemeClr val="accent1"/>
                  </a:solidFill>
                  <a:latin typeface="Aptos ExtraBold" panose="020B0004020202020204" pitchFamily="34" charset="0"/>
                </a:rPr>
              </a:br>
              <a:r>
                <a:rPr lang="en-GB" sz="1000" dirty="0">
                  <a:solidFill>
                    <a:schemeClr val="tx1"/>
                  </a:solidFill>
                  <a:latin typeface="Aptos ExtraBold" panose="020B0004020202020204" pitchFamily="34" charset="0"/>
                </a:rPr>
                <a:t>Tier 3 – marginal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A755823-6102-C82C-C127-F47F7AF5E272}"/>
                </a:ext>
              </a:extLst>
            </p:cNvPr>
            <p:cNvSpPr/>
            <p:nvPr/>
          </p:nvSpPr>
          <p:spPr>
            <a:xfrm>
              <a:off x="2768401" y="2647086"/>
              <a:ext cx="2016000" cy="432000"/>
            </a:xfrm>
            <a:prstGeom prst="rect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72000" tIns="0" rIns="0" bIns="0" rtlCol="0" anchor="ctr"/>
            <a:lstStyle/>
            <a:p>
              <a:r>
                <a:rPr lang="en-GB" sz="800" dirty="0">
                  <a:solidFill>
                    <a:schemeClr val="tx1"/>
                  </a:solidFill>
                </a:rPr>
                <a:t>Expected loss ratio</a:t>
              </a:r>
              <a:br>
                <a:rPr lang="en-GB" sz="800" dirty="0">
                  <a:solidFill>
                    <a:schemeClr val="accent1"/>
                  </a:solidFill>
                  <a:latin typeface="Aptos ExtraBold" panose="020B0004020202020204" pitchFamily="34" charset="0"/>
                </a:rPr>
              </a:br>
              <a:r>
                <a:rPr lang="en-GB" sz="1000" dirty="0">
                  <a:solidFill>
                    <a:schemeClr val="tx1"/>
                  </a:solidFill>
                  <a:latin typeface="Aptos ExtraBold" panose="020B0004020202020204" pitchFamily="34" charset="0"/>
                </a:rPr>
                <a:t>72%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FD0C3BF5-D65E-4273-CC8A-F48B9C6CA89F}"/>
                </a:ext>
              </a:extLst>
            </p:cNvPr>
            <p:cNvSpPr/>
            <p:nvPr/>
          </p:nvSpPr>
          <p:spPr>
            <a:xfrm>
              <a:off x="4893296" y="2647086"/>
              <a:ext cx="2016000" cy="432000"/>
            </a:xfrm>
            <a:prstGeom prst="rect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72000" tIns="0" rIns="0" bIns="0" rtlCol="0" anchor="ctr"/>
            <a:lstStyle/>
            <a:p>
              <a:r>
                <a:rPr lang="en-GB" sz="800" dirty="0">
                  <a:solidFill>
                    <a:schemeClr val="tx1"/>
                  </a:solidFill>
                </a:rPr>
                <a:t>Rate modifier</a:t>
              </a:r>
              <a:br>
                <a:rPr lang="en-GB" sz="800" dirty="0">
                  <a:solidFill>
                    <a:schemeClr val="accent1"/>
                  </a:solidFill>
                  <a:latin typeface="Aptos ExtraBold" panose="020B0004020202020204" pitchFamily="34" charset="0"/>
                </a:rPr>
              </a:br>
              <a:r>
                <a:rPr lang="en-GB" sz="1000" dirty="0">
                  <a:solidFill>
                    <a:schemeClr val="tx1"/>
                  </a:solidFill>
                  <a:latin typeface="Aptos ExtraBold" panose="020B0004020202020204" pitchFamily="34" charset="0"/>
                </a:rPr>
                <a:t>1.18X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1438ECC-5782-30F5-AEBE-65FC0BC17FAB}"/>
                </a:ext>
              </a:extLst>
            </p:cNvPr>
            <p:cNvSpPr/>
            <p:nvPr/>
          </p:nvSpPr>
          <p:spPr>
            <a:xfrm>
              <a:off x="643505" y="3178772"/>
              <a:ext cx="6265792" cy="432000"/>
            </a:xfrm>
            <a:prstGeom prst="rect">
              <a:avLst/>
            </a:prstGeom>
            <a:solidFill>
              <a:srgbClr val="FFC000">
                <a:alpha val="60000"/>
              </a:srgbClr>
            </a:solidFill>
            <a:ln w="635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72000" tIns="0" rIns="0" bIns="0" rtlCol="0" anchor="ctr"/>
            <a:lstStyle/>
            <a:p>
              <a:r>
                <a:rPr lang="en-GB" sz="800" dirty="0">
                  <a:solidFill>
                    <a:schemeClr val="tx1"/>
                  </a:solidFill>
                </a:rPr>
                <a:t>Underwriting recommendation</a:t>
              </a:r>
              <a:br>
                <a:rPr lang="en-GB" sz="800" dirty="0">
                  <a:solidFill>
                    <a:schemeClr val="accent1"/>
                  </a:solidFill>
                  <a:latin typeface="Aptos ExtraBold" panose="020B0004020202020204" pitchFamily="34" charset="0"/>
                </a:rPr>
              </a:br>
              <a:r>
                <a:rPr lang="en-GB" sz="1000" dirty="0">
                  <a:solidFill>
                    <a:schemeClr val="tx1"/>
                  </a:solidFill>
                  <a:latin typeface="Aptos ExtraBold" panose="020B0004020202020204" pitchFamily="34" charset="0"/>
                </a:rPr>
                <a:t>Flagged for manual review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C6CFD71C-3EB0-B665-498E-4B473977C5BB}"/>
              </a:ext>
            </a:extLst>
          </p:cNvPr>
          <p:cNvSpPr/>
          <p:nvPr/>
        </p:nvSpPr>
        <p:spPr>
          <a:xfrm>
            <a:off x="518400" y="5576007"/>
            <a:ext cx="6516000" cy="432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00" dirty="0">
                <a:solidFill>
                  <a:schemeClr val="tx1"/>
                </a:solidFill>
                <a:latin typeface="Aptos SemiBold" panose="020B0004020202020204" pitchFamily="34" charset="0"/>
              </a:rPr>
              <a:t>Digital signal deep-dive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1216185-4A05-DE82-36D6-0FCA70A5A1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918962"/>
              </p:ext>
            </p:extLst>
          </p:nvPr>
        </p:nvGraphicFramePr>
        <p:xfrm>
          <a:off x="643504" y="6140205"/>
          <a:ext cx="6156000" cy="683704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257664646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51811876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762550222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57114543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729688740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816448754"/>
                    </a:ext>
                  </a:extLst>
                </a:gridCol>
              </a:tblGrid>
              <a:tr h="37052"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8156006"/>
                  </a:ext>
                </a:extLst>
              </a:tr>
              <a:tr h="151158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SSL certificate</a:t>
                      </a:r>
                    </a:p>
                    <a:p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Current</a:t>
                      </a:r>
                    </a:p>
                    <a:p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TLS 1.2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78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Domain age</a:t>
                      </a:r>
                    </a:p>
                    <a:p>
                      <a:pPr algn="l"/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Mature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28 years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95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Uptime</a:t>
                      </a:r>
                    </a:p>
                    <a:p>
                      <a:pPr algn="l"/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Good</a:t>
                      </a:r>
                    </a:p>
                    <a:p>
                      <a:pPr algn="l"/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98.2% (12 months)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75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7451146"/>
                  </a:ext>
                </a:extLst>
              </a:tr>
              <a:tr h="151158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Security headers</a:t>
                      </a:r>
                    </a:p>
                    <a:p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Basic</a:t>
                      </a:r>
                    </a:p>
                    <a:p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5 / 10 implemented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62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Technology stack</a:t>
                      </a:r>
                    </a:p>
                    <a:p>
                      <a:pPr algn="l"/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Mixed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Legacy + modern components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58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Mobile optimised</a:t>
                      </a:r>
                    </a:p>
                    <a:p>
                      <a:pPr algn="l"/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Partial</a:t>
                      </a:r>
                    </a:p>
                    <a:p>
                      <a:pPr algn="l"/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Inconsistent across properties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65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001620"/>
                  </a:ext>
                </a:extLst>
              </a:tr>
              <a:tr h="37052"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7945648"/>
                  </a:ext>
                </a:extLst>
              </a:tr>
            </a:tbl>
          </a:graphicData>
        </a:graphic>
      </p:graphicFrame>
      <p:pic>
        <p:nvPicPr>
          <p:cNvPr id="14" name="Graphic 13" descr="Server outline">
            <a:extLst>
              <a:ext uri="{FF2B5EF4-FFF2-40B4-BE49-F238E27FC236}">
                <a16:creationId xmlns:a16="http://schemas.microsoft.com/office/drawing/2014/main" id="{D9384EDB-0002-B4E8-8965-5B7B6FF970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3504" y="5888205"/>
            <a:ext cx="252000" cy="252000"/>
          </a:xfrm>
          <a:prstGeom prst="rect">
            <a:avLst/>
          </a:prstGeom>
        </p:spPr>
      </p:pic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99F2BDCC-98E5-D620-B22B-131E0C6B7DE8}"/>
              </a:ext>
            </a:extLst>
          </p:cNvPr>
          <p:cNvSpPr txBox="1">
            <a:spLocks/>
          </p:cNvSpPr>
          <p:nvPr/>
        </p:nvSpPr>
        <p:spPr>
          <a:xfrm>
            <a:off x="926801" y="5942205"/>
            <a:ext cx="3258000" cy="14400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Inter" panose="02000503000000020004"/>
                <a:ea typeface="Inter" panose="02000503000000020004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Inter" panose="02000503000000020004"/>
                <a:ea typeface="Inter" panose="02000503000000020004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Inter" panose="02000503000000020004"/>
                <a:ea typeface="Inter" panose="02000503000000020004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800" dirty="0">
                <a:latin typeface="+mn-lt"/>
                <a:ea typeface="Inter ExtraBold" panose="02000503000000020004" pitchFamily="2" charset="0"/>
              </a:rPr>
              <a:t>Infrastructure signals</a:t>
            </a:r>
            <a:endParaRPr lang="en-GB" sz="800" dirty="0">
              <a:latin typeface="+mn-lt"/>
              <a:ea typeface="Inter" panose="02000503000000020004" pitchFamily="2" charset="0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49FED8F-E0D1-2454-E973-A57531595B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384678"/>
              </p:ext>
            </p:extLst>
          </p:nvPr>
        </p:nvGraphicFramePr>
        <p:xfrm>
          <a:off x="643504" y="7129909"/>
          <a:ext cx="6156000" cy="683704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257664646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51811876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762550222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57114543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729688740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816448754"/>
                    </a:ext>
                  </a:extLst>
                </a:gridCol>
              </a:tblGrid>
              <a:tr h="37052"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8156006"/>
                  </a:ext>
                </a:extLst>
              </a:tr>
              <a:tr h="238437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Update frequency</a:t>
                      </a:r>
                      <a:b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Irregular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Gaps of 2 – 4 weeks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58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Governance</a:t>
                      </a:r>
                      <a:b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Opaque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Minimal board + management info public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45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Certifications</a:t>
                      </a:r>
                    </a:p>
                    <a:p>
                      <a:pPr algn="l"/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Basic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Standard industry certifications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60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7451146"/>
                  </a:ext>
                </a:extLst>
              </a:tr>
              <a:tr h="151158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Transparency</a:t>
                      </a:r>
                    </a:p>
                    <a:p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Limited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Basic compliance disclosure only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52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Multi language</a:t>
                      </a:r>
                    </a:p>
                    <a:p>
                      <a:pPr algn="l"/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Yes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EN, ES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70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Incident response</a:t>
                      </a:r>
                    </a:p>
                    <a:p>
                      <a:pPr algn="l"/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Unclear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No public crisis protocols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48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001620"/>
                  </a:ext>
                </a:extLst>
              </a:tr>
              <a:tr h="37052"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7945648"/>
                  </a:ext>
                </a:extLst>
              </a:tr>
            </a:tbl>
          </a:graphicData>
        </a:graphic>
      </p:graphicFrame>
      <p:pic>
        <p:nvPicPr>
          <p:cNvPr id="18" name="Graphic 17" descr="Internet with solid fill">
            <a:extLst>
              <a:ext uri="{FF2B5EF4-FFF2-40B4-BE49-F238E27FC236}">
                <a16:creationId xmlns:a16="http://schemas.microsoft.com/office/drawing/2014/main" id="{82C3361C-7731-AB27-3C9C-888C2FF01A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43504" y="6877909"/>
            <a:ext cx="252000" cy="252000"/>
          </a:xfrm>
          <a:prstGeom prst="rect">
            <a:avLst/>
          </a:prstGeom>
        </p:spPr>
      </p:pic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AF43E8C7-6691-E265-4B21-85A54E84A035}"/>
              </a:ext>
            </a:extLst>
          </p:cNvPr>
          <p:cNvSpPr txBox="1">
            <a:spLocks/>
          </p:cNvSpPr>
          <p:nvPr/>
        </p:nvSpPr>
        <p:spPr>
          <a:xfrm>
            <a:off x="926801" y="6931909"/>
            <a:ext cx="3258000" cy="14400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Inter" panose="02000503000000020004"/>
                <a:ea typeface="Inter" panose="02000503000000020004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Inter" panose="02000503000000020004"/>
                <a:ea typeface="Inter" panose="02000503000000020004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Inter" panose="02000503000000020004"/>
                <a:ea typeface="Inter" panose="02000503000000020004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800" dirty="0">
                <a:latin typeface="+mn-lt"/>
                <a:ea typeface="Inter ExtraBold" panose="02000503000000020004" pitchFamily="2" charset="0"/>
              </a:rPr>
              <a:t>Content and transparency signals</a:t>
            </a:r>
            <a:endParaRPr lang="en-GB" sz="800" dirty="0">
              <a:latin typeface="+mn-lt"/>
              <a:ea typeface="Inter" panose="02000503000000020004" pitchFamily="2" charset="0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04C4FAE9-81EF-4805-D249-BA79BC847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634744"/>
              </p:ext>
            </p:extLst>
          </p:nvPr>
        </p:nvGraphicFramePr>
        <p:xfrm>
          <a:off x="643504" y="8119613"/>
          <a:ext cx="6156000" cy="683704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257664646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51811876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762550222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57114543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729688740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816448754"/>
                    </a:ext>
                  </a:extLst>
                </a:gridCol>
              </a:tblGrid>
              <a:tr h="37052"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8156006"/>
                  </a:ext>
                </a:extLst>
              </a:tr>
              <a:tr h="198693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Backlinks</a:t>
                      </a:r>
                    </a:p>
                    <a:p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Moderate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124K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68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Citations</a:t>
                      </a:r>
                    </a:p>
                    <a:p>
                      <a:pPr algn="l"/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State media heavy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Mostly domestic sources, limited international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62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Social presence</a:t>
                      </a:r>
                    </a:p>
                    <a:p>
                      <a:pPr algn="l"/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Weak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LinkedIn 45K, minimal engagement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52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7451146"/>
                  </a:ext>
                </a:extLst>
              </a:tr>
              <a:tr h="151158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Domain authority</a:t>
                      </a:r>
                    </a:p>
                    <a:p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Good</a:t>
                      </a:r>
                    </a:p>
                    <a:p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71 / 100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75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Partnerships</a:t>
                      </a:r>
                    </a:p>
                    <a:p>
                      <a:pPr algn="l"/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Procurement focus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PPI intermediary model reduces volatility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58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Suppler network</a:t>
                      </a:r>
                    </a:p>
                    <a:p>
                      <a:pPr algn="l"/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Intermediated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PPI procurement layer obscures relationships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55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001620"/>
                  </a:ext>
                </a:extLst>
              </a:tr>
              <a:tr h="37052"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7945648"/>
                  </a:ext>
                </a:extLst>
              </a:tr>
            </a:tbl>
          </a:graphicData>
        </a:graphic>
      </p:graphicFrame>
      <p:pic>
        <p:nvPicPr>
          <p:cNvPr id="22" name="Graphic 21" descr="Network diagram outline">
            <a:extLst>
              <a:ext uri="{FF2B5EF4-FFF2-40B4-BE49-F238E27FC236}">
                <a16:creationId xmlns:a16="http://schemas.microsoft.com/office/drawing/2014/main" id="{AD88153C-C75B-7033-9466-29C858A5FA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43504" y="7867613"/>
            <a:ext cx="252000" cy="252000"/>
          </a:xfrm>
          <a:prstGeom prst="rect">
            <a:avLst/>
          </a:prstGeom>
        </p:spPr>
      </p:pic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95B34AD-03B8-3418-7439-044061E15531}"/>
              </a:ext>
            </a:extLst>
          </p:cNvPr>
          <p:cNvSpPr txBox="1">
            <a:spLocks/>
          </p:cNvSpPr>
          <p:nvPr/>
        </p:nvSpPr>
        <p:spPr>
          <a:xfrm>
            <a:off x="926801" y="7921613"/>
            <a:ext cx="3258000" cy="14400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Inter" panose="02000503000000020004"/>
                <a:ea typeface="Inter" panose="02000503000000020004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Inter" panose="02000503000000020004"/>
                <a:ea typeface="Inter" panose="02000503000000020004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Inter" panose="02000503000000020004"/>
                <a:ea typeface="Inter" panose="02000503000000020004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800" dirty="0">
                <a:latin typeface="+mn-lt"/>
                <a:ea typeface="Inter ExtraBold" panose="02000503000000020004" pitchFamily="2" charset="0"/>
              </a:rPr>
              <a:t>Network and relationship signals</a:t>
            </a:r>
            <a:endParaRPr lang="en-GB" sz="800" dirty="0">
              <a:latin typeface="+mn-lt"/>
              <a:ea typeface="Inter" panose="02000503000000020004" pitchFamily="2" charset="0"/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0021CB22-783E-A5E6-02C9-B46DECC09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139690"/>
              </p:ext>
            </p:extLst>
          </p:nvPr>
        </p:nvGraphicFramePr>
        <p:xfrm>
          <a:off x="638102" y="9109317"/>
          <a:ext cx="6156000" cy="683704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257664646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51811876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762550222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57114543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729688740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816448754"/>
                    </a:ext>
                  </a:extLst>
                </a:gridCol>
              </a:tblGrid>
              <a:tr h="37052"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8156006"/>
                  </a:ext>
                </a:extLst>
              </a:tr>
              <a:tr h="151158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Digital transformation</a:t>
                      </a:r>
                    </a:p>
                    <a:p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Stalled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No major initiatives since 2018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48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Consistency</a:t>
                      </a:r>
                    </a:p>
                    <a:p>
                      <a:pPr algn="l"/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Fragmented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Multiple sites, inconsistent quality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55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Investor relations</a:t>
                      </a:r>
                    </a:p>
                    <a:p>
                      <a:pPr algn="l"/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Minimal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State-=owned, limited IR infrastructure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48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7451146"/>
                  </a:ext>
                </a:extLst>
              </a:tr>
              <a:tr h="151158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Innovation</a:t>
                      </a:r>
                    </a:p>
                    <a:p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Limited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Minimal public R&amp;D presence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52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Compliance history</a:t>
                      </a:r>
                    </a:p>
                    <a:p>
                      <a:pPr algn="l"/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Concerning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Ongoing financial challenges well-documented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42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Sustainability</a:t>
                      </a:r>
                    </a:p>
                    <a:p>
                      <a:pPr algn="l"/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Basic</a:t>
                      </a:r>
                      <a:b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</a:br>
                      <a:r>
                        <a:rPr lang="en-GB" sz="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Compliance level ESG, limited </a:t>
                      </a:r>
                      <a:r>
                        <a:rPr lang="en-GB" sz="6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lt"/>
                          <a:ea typeface="Inter" panose="02000503000000020004" pitchFamily="2" charset="0"/>
                        </a:rPr>
                        <a:t>initatives</a:t>
                      </a:r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55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001620"/>
                  </a:ext>
                </a:extLst>
              </a:tr>
              <a:tr h="37052"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7945648"/>
                  </a:ext>
                </a:extLst>
              </a:tr>
            </a:tbl>
          </a:graphicData>
        </a:graphic>
      </p:graphicFrame>
      <p:pic>
        <p:nvPicPr>
          <p:cNvPr id="25" name="Graphic 24" descr="Wi-Fi outline">
            <a:extLst>
              <a:ext uri="{FF2B5EF4-FFF2-40B4-BE49-F238E27FC236}">
                <a16:creationId xmlns:a16="http://schemas.microsoft.com/office/drawing/2014/main" id="{B6DDAF1C-1653-DB9E-25F2-9798278253C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638102" y="8857317"/>
            <a:ext cx="252000" cy="252000"/>
          </a:xfrm>
          <a:prstGeom prst="rect">
            <a:avLst/>
          </a:prstGeom>
        </p:spPr>
      </p:pic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230FC525-1E9E-0C23-FD88-785D3E9366B1}"/>
              </a:ext>
            </a:extLst>
          </p:cNvPr>
          <p:cNvSpPr txBox="1">
            <a:spLocks/>
          </p:cNvSpPr>
          <p:nvPr/>
        </p:nvSpPr>
        <p:spPr>
          <a:xfrm>
            <a:off x="921399" y="8911317"/>
            <a:ext cx="3258000" cy="14400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Inter" panose="02000503000000020004"/>
                <a:ea typeface="Inter" panose="02000503000000020004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Inter" panose="02000503000000020004"/>
                <a:ea typeface="Inter" panose="02000503000000020004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Inter" panose="02000503000000020004"/>
                <a:ea typeface="Inter" panose="02000503000000020004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800" dirty="0">
                <a:latin typeface="+mn-lt"/>
                <a:ea typeface="Inter ExtraBold" panose="02000503000000020004" pitchFamily="2" charset="0"/>
              </a:rPr>
              <a:t>Behavioural and operational signals</a:t>
            </a:r>
            <a:endParaRPr lang="en-GB" sz="800" dirty="0">
              <a:latin typeface="+mn-lt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767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39CB5-001C-E8CB-14E2-B38BA56C3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279FCFD2-9570-5D24-5BB4-B0D24E1F2023}"/>
              </a:ext>
            </a:extLst>
          </p:cNvPr>
          <p:cNvSpPr txBox="1">
            <a:spLocks/>
          </p:cNvSpPr>
          <p:nvPr/>
        </p:nvSpPr>
        <p:spPr>
          <a:xfrm>
            <a:off x="518400" y="712800"/>
            <a:ext cx="5408468" cy="720000"/>
          </a:xfrm>
          <a:prstGeom prst="rect">
            <a:avLst/>
          </a:prstGeom>
        </p:spPr>
        <p:txBody>
          <a:bodyPr lIns="0" anchor="b"/>
          <a:lstStyle>
            <a:lvl1pPr algn="l" defTabSz="4404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27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600" dirty="0"/>
              <a:t>Digital Signal Intelligence</a:t>
            </a:r>
          </a:p>
          <a:p>
            <a:r>
              <a:rPr lang="en-GB" sz="1600" dirty="0"/>
              <a:t>Client Analysis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BE4E1F02-D469-0569-F3D7-9612A869BFAC}"/>
              </a:ext>
            </a:extLst>
          </p:cNvPr>
          <p:cNvSpPr txBox="1">
            <a:spLocks/>
          </p:cNvSpPr>
          <p:nvPr/>
        </p:nvSpPr>
        <p:spPr>
          <a:xfrm>
            <a:off x="519728" y="1436818"/>
            <a:ext cx="6516000" cy="155821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Inter" panose="02000503000000020004"/>
                <a:ea typeface="Inter" panose="02000503000000020004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Inter" panose="02000503000000020004"/>
                <a:ea typeface="Inter" panose="02000503000000020004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Inter" panose="02000503000000020004"/>
                <a:ea typeface="Inter" panose="02000503000000020004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800" dirty="0">
                <a:latin typeface="Aptos" panose="020B0004020202020204" pitchFamily="34" charset="0"/>
                <a:ea typeface="Inter" panose="02000503000000020004" pitchFamily="2" charset="0"/>
              </a:rPr>
              <a:t>Sample Comprehensive Risk Assessment Report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348BEF-9A99-2425-7F84-6DBA3AEDCE12}"/>
              </a:ext>
            </a:extLst>
          </p:cNvPr>
          <p:cNvSpPr/>
          <p:nvPr/>
        </p:nvSpPr>
        <p:spPr>
          <a:xfrm>
            <a:off x="518400" y="1638000"/>
            <a:ext cx="6516000" cy="3636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00" dirty="0">
                <a:solidFill>
                  <a:schemeClr val="tx1"/>
                </a:solidFill>
                <a:latin typeface="Aptos SemiBold" panose="020B0004020202020204" pitchFamily="34" charset="0"/>
              </a:rPr>
              <a:t>Coverage specific recommendations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3620550-AE6F-C48F-BF41-0870672C84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367277"/>
              </p:ext>
            </p:extLst>
          </p:nvPr>
        </p:nvGraphicFramePr>
        <p:xfrm>
          <a:off x="644720" y="1933965"/>
          <a:ext cx="6156002" cy="77681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1158681">
                  <a:extLst>
                    <a:ext uri="{9D8B030D-6E8A-4147-A177-3AD203B41FA5}">
                      <a16:colId xmlns:a16="http://schemas.microsoft.com/office/drawing/2014/main" val="2257664646"/>
                    </a:ext>
                  </a:extLst>
                </a:gridCol>
                <a:gridCol w="893320">
                  <a:extLst>
                    <a:ext uri="{9D8B030D-6E8A-4147-A177-3AD203B41FA5}">
                      <a16:colId xmlns:a16="http://schemas.microsoft.com/office/drawing/2014/main" val="531569771"/>
                    </a:ext>
                  </a:extLst>
                </a:gridCol>
                <a:gridCol w="1042160">
                  <a:extLst>
                    <a:ext uri="{9D8B030D-6E8A-4147-A177-3AD203B41FA5}">
                      <a16:colId xmlns:a16="http://schemas.microsoft.com/office/drawing/2014/main" val="2762550222"/>
                    </a:ext>
                  </a:extLst>
                </a:gridCol>
                <a:gridCol w="757841">
                  <a:extLst>
                    <a:ext uri="{9D8B030D-6E8A-4147-A177-3AD203B41FA5}">
                      <a16:colId xmlns:a16="http://schemas.microsoft.com/office/drawing/2014/main" val="2196349368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57114543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729688740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816448754"/>
                    </a:ext>
                  </a:extLst>
                </a:gridCol>
              </a:tblGrid>
              <a:tr h="102454"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D&amp;O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tx1"/>
                        </a:solidFill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en-GB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6091340"/>
                  </a:ext>
                </a:extLst>
              </a:tr>
              <a:tr h="25614"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8156006"/>
                  </a:ext>
                </a:extLst>
              </a:tr>
              <a:tr h="102454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Aptos SemiBold" panose="020B0004020202020204" pitchFamily="34" charset="0"/>
                          <a:ea typeface="Inter" panose="02000503000000020004" pitchFamily="2" charset="0"/>
                        </a:rPr>
                        <a:t>Signal score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Aptos SemiBold" panose="020B0004020202020204" pitchFamily="34" charset="0"/>
                          <a:ea typeface="Inter" panose="02000503000000020004" pitchFamily="2" charset="0"/>
                        </a:rPr>
                        <a:t>485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solidFill>
                            <a:schemeClr val="tx1"/>
                          </a:solidFill>
                          <a:latin typeface="Aptos SemiBold" panose="020B0004020202020204" pitchFamily="34" charset="0"/>
                          <a:ea typeface="Inter" panose="02000503000000020004" pitchFamily="2" charset="0"/>
                        </a:rPr>
                        <a:t>Decline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7451146"/>
                  </a:ext>
                </a:extLst>
              </a:tr>
              <a:tr h="53125">
                <a:tc gridSpan="7">
                  <a:txBody>
                    <a:bodyPr/>
                    <a:lstStyle/>
                    <a:p>
                      <a:endParaRPr lang="en-GB" sz="200" dirty="0"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16605"/>
                  </a:ext>
                </a:extLst>
              </a:tr>
              <a:tr h="204909">
                <a:tc gridSpan="7">
                  <a:txBody>
                    <a:bodyPr/>
                    <a:lstStyle/>
                    <a:p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Severe governance opacity. Minimal board/management disclosure. State control without transparency. Financial stress creates incentive misalignment. Poor crisis management visibility.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001620"/>
                  </a:ext>
                </a:extLst>
              </a:tr>
              <a:tr h="53125">
                <a:tc gridSpan="7">
                  <a:txBody>
                    <a:bodyPr/>
                    <a:lstStyle/>
                    <a:p>
                      <a:endParaRPr lang="en-GB" sz="200" dirty="0"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434649"/>
                  </a:ext>
                </a:extLst>
              </a:tr>
              <a:tr h="102454"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Indicative premium: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N/A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Rate modifier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N/A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29319036"/>
                  </a:ext>
                </a:extLst>
              </a:tr>
              <a:tr h="25614"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794564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38B0D04-25F9-FD8E-53BB-6D57210FE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36689"/>
              </p:ext>
            </p:extLst>
          </p:nvPr>
        </p:nvGraphicFramePr>
        <p:xfrm>
          <a:off x="644720" y="2756136"/>
          <a:ext cx="6156002" cy="77681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1158681">
                  <a:extLst>
                    <a:ext uri="{9D8B030D-6E8A-4147-A177-3AD203B41FA5}">
                      <a16:colId xmlns:a16="http://schemas.microsoft.com/office/drawing/2014/main" val="2257664646"/>
                    </a:ext>
                  </a:extLst>
                </a:gridCol>
                <a:gridCol w="893320">
                  <a:extLst>
                    <a:ext uri="{9D8B030D-6E8A-4147-A177-3AD203B41FA5}">
                      <a16:colId xmlns:a16="http://schemas.microsoft.com/office/drawing/2014/main" val="531569771"/>
                    </a:ext>
                  </a:extLst>
                </a:gridCol>
                <a:gridCol w="1042160">
                  <a:extLst>
                    <a:ext uri="{9D8B030D-6E8A-4147-A177-3AD203B41FA5}">
                      <a16:colId xmlns:a16="http://schemas.microsoft.com/office/drawing/2014/main" val="2762550222"/>
                    </a:ext>
                  </a:extLst>
                </a:gridCol>
                <a:gridCol w="757841">
                  <a:extLst>
                    <a:ext uri="{9D8B030D-6E8A-4147-A177-3AD203B41FA5}">
                      <a16:colId xmlns:a16="http://schemas.microsoft.com/office/drawing/2014/main" val="2196349368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57114543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729688740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816448754"/>
                    </a:ext>
                  </a:extLst>
                </a:gridCol>
              </a:tblGrid>
              <a:tr h="102454"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CYBER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tx1"/>
                        </a:solidFill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en-GB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6091340"/>
                  </a:ext>
                </a:extLst>
              </a:tr>
              <a:tr h="25614"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8156006"/>
                  </a:ext>
                </a:extLst>
              </a:tr>
              <a:tr h="102454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Aptos SemiBold" panose="020B0004020202020204" pitchFamily="34" charset="0"/>
                          <a:ea typeface="Inter" panose="02000503000000020004" pitchFamily="2" charset="0"/>
                        </a:rPr>
                        <a:t>Signal score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Aptos SemiBold" panose="020B0004020202020204" pitchFamily="34" charset="0"/>
                          <a:ea typeface="Inter" panose="02000503000000020004" pitchFamily="2" charset="0"/>
                        </a:rPr>
                        <a:t>538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solidFill>
                            <a:schemeClr val="tx1"/>
                          </a:solidFill>
                          <a:latin typeface="Aptos SemiBold" panose="020B0004020202020204" pitchFamily="34" charset="0"/>
                          <a:ea typeface="Inter" panose="02000503000000020004" pitchFamily="2" charset="0"/>
                        </a:rPr>
                        <a:t>Manual review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7451146"/>
                  </a:ext>
                </a:extLst>
              </a:tr>
              <a:tr h="53125">
                <a:tc gridSpan="7">
                  <a:txBody>
                    <a:bodyPr/>
                    <a:lstStyle/>
                    <a:p>
                      <a:endParaRPr lang="en-GB" sz="200" dirty="0"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16605"/>
                  </a:ext>
                </a:extLst>
              </a:tr>
              <a:tr h="204909">
                <a:tc gridSpan="7">
                  <a:txBody>
                    <a:bodyPr/>
                    <a:lstStyle/>
                    <a:p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Mixed infrastructure signals. Basic security implementation (5/10 headers, TLS 1.2). Legacy technology components. Fragmented digital presence suggests inconsistent security posture.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001620"/>
                  </a:ext>
                </a:extLst>
              </a:tr>
              <a:tr h="53125">
                <a:tc gridSpan="7">
                  <a:txBody>
                    <a:bodyPr/>
                    <a:lstStyle/>
                    <a:p>
                      <a:endParaRPr lang="en-GB" sz="200" dirty="0"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434649"/>
                  </a:ext>
                </a:extLst>
              </a:tr>
              <a:tr h="102454"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Indicative premium: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$625K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Rate modifier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1.24X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29319036"/>
                  </a:ext>
                </a:extLst>
              </a:tr>
              <a:tr h="25614"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794564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9B1EA3C-CEF4-F4E2-1BEC-CE80368D04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455377"/>
              </p:ext>
            </p:extLst>
          </p:nvPr>
        </p:nvGraphicFramePr>
        <p:xfrm>
          <a:off x="644720" y="3578307"/>
          <a:ext cx="6156002" cy="77681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1158681">
                  <a:extLst>
                    <a:ext uri="{9D8B030D-6E8A-4147-A177-3AD203B41FA5}">
                      <a16:colId xmlns:a16="http://schemas.microsoft.com/office/drawing/2014/main" val="2257664646"/>
                    </a:ext>
                  </a:extLst>
                </a:gridCol>
                <a:gridCol w="893320">
                  <a:extLst>
                    <a:ext uri="{9D8B030D-6E8A-4147-A177-3AD203B41FA5}">
                      <a16:colId xmlns:a16="http://schemas.microsoft.com/office/drawing/2014/main" val="531569771"/>
                    </a:ext>
                  </a:extLst>
                </a:gridCol>
                <a:gridCol w="1042160">
                  <a:extLst>
                    <a:ext uri="{9D8B030D-6E8A-4147-A177-3AD203B41FA5}">
                      <a16:colId xmlns:a16="http://schemas.microsoft.com/office/drawing/2014/main" val="2762550222"/>
                    </a:ext>
                  </a:extLst>
                </a:gridCol>
                <a:gridCol w="757841">
                  <a:extLst>
                    <a:ext uri="{9D8B030D-6E8A-4147-A177-3AD203B41FA5}">
                      <a16:colId xmlns:a16="http://schemas.microsoft.com/office/drawing/2014/main" val="2196349368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57114543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729688740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816448754"/>
                    </a:ext>
                  </a:extLst>
                </a:gridCol>
              </a:tblGrid>
              <a:tr h="102454"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CREDIT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tx1"/>
                        </a:solidFill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en-GB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6091340"/>
                  </a:ext>
                </a:extLst>
              </a:tr>
              <a:tr h="25614"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8156006"/>
                  </a:ext>
                </a:extLst>
              </a:tr>
              <a:tr h="102454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Aptos SemiBold" panose="020B0004020202020204" pitchFamily="34" charset="0"/>
                          <a:ea typeface="Inter" panose="02000503000000020004" pitchFamily="2" charset="0"/>
                        </a:rPr>
                        <a:t>Signal score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Aptos SemiBold" panose="020B0004020202020204" pitchFamily="34" charset="0"/>
                          <a:ea typeface="Inter" panose="02000503000000020004" pitchFamily="2" charset="0"/>
                        </a:rPr>
                        <a:t>512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solidFill>
                            <a:schemeClr val="tx1"/>
                          </a:solidFill>
                          <a:latin typeface="Aptos SemiBold" panose="020B0004020202020204" pitchFamily="34" charset="0"/>
                          <a:ea typeface="Inter" panose="02000503000000020004" pitchFamily="2" charset="0"/>
                        </a:rPr>
                        <a:t>Manual review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7451146"/>
                  </a:ext>
                </a:extLst>
              </a:tr>
              <a:tr h="53125">
                <a:tc gridSpan="7">
                  <a:txBody>
                    <a:bodyPr/>
                    <a:lstStyle/>
                    <a:p>
                      <a:endParaRPr lang="en-GB" sz="200" dirty="0"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16605"/>
                  </a:ext>
                </a:extLst>
              </a:tr>
              <a:tr h="204909">
                <a:tc gridSpan="7">
                  <a:txBody>
                    <a:bodyPr/>
                    <a:lstStyle/>
                    <a:p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State backing provides floor but not ceiling. Well-documented financial challenges. Limited partnership transparency via PPI intermediary. Debt burden concerns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001620"/>
                  </a:ext>
                </a:extLst>
              </a:tr>
              <a:tr h="53125">
                <a:tc gridSpan="7">
                  <a:txBody>
                    <a:bodyPr/>
                    <a:lstStyle/>
                    <a:p>
                      <a:endParaRPr lang="en-GB" sz="200" dirty="0"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434649"/>
                  </a:ext>
                </a:extLst>
              </a:tr>
              <a:tr h="102454"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Indicative premium: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$285K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Rate modifier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1.32X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29319036"/>
                  </a:ext>
                </a:extLst>
              </a:tr>
              <a:tr h="25614"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794564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D04A6FB-FE7D-ED1D-E30B-7200FBD939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553589"/>
              </p:ext>
            </p:extLst>
          </p:nvPr>
        </p:nvGraphicFramePr>
        <p:xfrm>
          <a:off x="644720" y="4400478"/>
          <a:ext cx="6156002" cy="77681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1158681">
                  <a:extLst>
                    <a:ext uri="{9D8B030D-6E8A-4147-A177-3AD203B41FA5}">
                      <a16:colId xmlns:a16="http://schemas.microsoft.com/office/drawing/2014/main" val="2257664646"/>
                    </a:ext>
                  </a:extLst>
                </a:gridCol>
                <a:gridCol w="893320">
                  <a:extLst>
                    <a:ext uri="{9D8B030D-6E8A-4147-A177-3AD203B41FA5}">
                      <a16:colId xmlns:a16="http://schemas.microsoft.com/office/drawing/2014/main" val="531569771"/>
                    </a:ext>
                  </a:extLst>
                </a:gridCol>
                <a:gridCol w="1042160">
                  <a:extLst>
                    <a:ext uri="{9D8B030D-6E8A-4147-A177-3AD203B41FA5}">
                      <a16:colId xmlns:a16="http://schemas.microsoft.com/office/drawing/2014/main" val="2762550222"/>
                    </a:ext>
                  </a:extLst>
                </a:gridCol>
                <a:gridCol w="757841">
                  <a:extLst>
                    <a:ext uri="{9D8B030D-6E8A-4147-A177-3AD203B41FA5}">
                      <a16:colId xmlns:a16="http://schemas.microsoft.com/office/drawing/2014/main" val="2196349368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57114543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729688740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816448754"/>
                    </a:ext>
                  </a:extLst>
                </a:gridCol>
              </a:tblGrid>
              <a:tr h="102454"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Aptos ExtraBold" panose="020B0004020202020204" pitchFamily="34" charset="0"/>
                          <a:ea typeface="Inter" panose="02000503000000020004" pitchFamily="2" charset="0"/>
                        </a:rPr>
                        <a:t>POLITICAL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800" dirty="0">
                        <a:solidFill>
                          <a:schemeClr val="tx1"/>
                        </a:solidFill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en-GB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8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6091340"/>
                  </a:ext>
                </a:extLst>
              </a:tr>
              <a:tr h="25614"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8156006"/>
                  </a:ext>
                </a:extLst>
              </a:tr>
              <a:tr h="102454"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Aptos SemiBold" panose="020B0004020202020204" pitchFamily="34" charset="0"/>
                          <a:ea typeface="Inter" panose="02000503000000020004" pitchFamily="2" charset="0"/>
                        </a:rPr>
                        <a:t>Signal score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latin typeface="Aptos SemiBold" panose="020B0004020202020204" pitchFamily="34" charset="0"/>
                          <a:ea typeface="Inter" panose="02000503000000020004" pitchFamily="2" charset="0"/>
                        </a:rPr>
                        <a:t>625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solidFill>
                            <a:schemeClr val="tx1"/>
                          </a:solidFill>
                          <a:latin typeface="Aptos SemiBold" panose="020B0004020202020204" pitchFamily="34" charset="0"/>
                          <a:ea typeface="Inter" panose="02000503000000020004" pitchFamily="2" charset="0"/>
                        </a:rPr>
                        <a:t>Approve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7451146"/>
                  </a:ext>
                </a:extLst>
              </a:tr>
              <a:tr h="53125">
                <a:tc gridSpan="7">
                  <a:txBody>
                    <a:bodyPr/>
                    <a:lstStyle/>
                    <a:p>
                      <a:endParaRPr lang="en-GB" sz="200" dirty="0"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16605"/>
                  </a:ext>
                </a:extLst>
              </a:tr>
              <a:tr h="204909">
                <a:tc gridSpan="7">
                  <a:txBody>
                    <a:bodyPr/>
                    <a:lstStyle/>
                    <a:p>
                      <a:r>
                        <a:rPr lang="en-GB" sz="800" dirty="0">
                          <a:latin typeface="+mn-lt"/>
                          <a:ea typeface="Inter" panose="02000503000000020004" pitchFamily="2" charset="0"/>
                        </a:rPr>
                        <a:t>Ironically, state ownership and domestic focus reduce international political risk. However, domestic political volatility remains high. Monitor government policy shifts closely</a:t>
                      </a: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001620"/>
                  </a:ext>
                </a:extLst>
              </a:tr>
              <a:tr h="53125">
                <a:tc gridSpan="7">
                  <a:txBody>
                    <a:bodyPr/>
                    <a:lstStyle/>
                    <a:p>
                      <a:endParaRPr lang="en-GB" sz="200" dirty="0"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434649"/>
                  </a:ext>
                </a:extLst>
              </a:tr>
              <a:tr h="102454"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Indicative premium: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$480K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Rate modifier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l"/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0.95X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GB" sz="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8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29319036"/>
                  </a:ext>
                </a:extLst>
              </a:tr>
              <a:tr h="25614"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72000" marR="0" marT="0" marB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00" dirty="0">
                        <a:latin typeface="Aptos ExtraBold" panose="020B0004020202020204" pitchFamily="34" charset="0"/>
                        <a:ea typeface="Inter" panose="02000503000000020004" pitchFamily="2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7945648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24E55E5E-9D10-16A2-3E18-AE625E69094D}"/>
              </a:ext>
            </a:extLst>
          </p:cNvPr>
          <p:cNvSpPr/>
          <p:nvPr/>
        </p:nvSpPr>
        <p:spPr>
          <a:xfrm>
            <a:off x="518400" y="5345906"/>
            <a:ext cx="6516000" cy="2304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00" dirty="0">
                <a:solidFill>
                  <a:schemeClr val="tx1"/>
                </a:solidFill>
                <a:latin typeface="Aptos SemiBold" panose="020B0004020202020204" pitchFamily="34" charset="0"/>
              </a:rPr>
              <a:t>Portfolio management insights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44E4D52-94FC-7B3B-4480-2C4A884B7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557080"/>
              </p:ext>
            </p:extLst>
          </p:nvPr>
        </p:nvGraphicFramePr>
        <p:xfrm>
          <a:off x="643505" y="5595187"/>
          <a:ext cx="6265791" cy="91440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350905">
                  <a:extLst>
                    <a:ext uri="{9D8B030D-6E8A-4147-A177-3AD203B41FA5}">
                      <a16:colId xmlns:a16="http://schemas.microsoft.com/office/drawing/2014/main" val="2257664646"/>
                    </a:ext>
                  </a:extLst>
                </a:gridCol>
                <a:gridCol w="5914886">
                  <a:extLst>
                    <a:ext uri="{9D8B030D-6E8A-4147-A177-3AD203B41FA5}">
                      <a16:colId xmlns:a16="http://schemas.microsoft.com/office/drawing/2014/main" val="3935033781"/>
                    </a:ext>
                  </a:extLst>
                </a:gridCol>
              </a:tblGrid>
              <a:tr h="128949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―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Digital stagnation flag: no transformation since 2018 raises operational concerns</a:t>
                      </a:r>
                    </a:p>
                  </a:txBody>
                  <a:tcPr marL="0" marT="0" marB="0"/>
                </a:tc>
                <a:extLst>
                  <a:ext uri="{0D108BD9-81ED-4DB2-BD59-A6C34878D82A}">
                    <a16:rowId xmlns:a16="http://schemas.microsoft.com/office/drawing/2014/main" val="847451146"/>
                  </a:ext>
                </a:extLst>
              </a:tr>
              <a:tr h="128949">
                <a:tc>
                  <a:txBody>
                    <a:bodyPr/>
                    <a:lstStyle/>
                    <a:p>
                      <a:pPr marL="0" marR="0" lvl="0" indent="0" algn="ctr" defTabSz="4404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―</a:t>
                      </a:r>
                      <a:endParaRPr lang="en-GB" sz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Governance transparency deficit is primary risk driver</a:t>
                      </a:r>
                    </a:p>
                  </a:txBody>
                  <a:tcPr marL="0" marT="0" marB="0"/>
                </a:tc>
                <a:extLst>
                  <a:ext uri="{0D108BD9-81ED-4DB2-BD59-A6C34878D82A}">
                    <a16:rowId xmlns:a16="http://schemas.microsoft.com/office/drawing/2014/main" val="3920993623"/>
                  </a:ext>
                </a:extLst>
              </a:tr>
              <a:tr h="128949">
                <a:tc>
                  <a:txBody>
                    <a:bodyPr/>
                    <a:lstStyle/>
                    <a:p>
                      <a:pPr marL="0" marR="0" lvl="0" indent="0" algn="ctr" defTabSz="4404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―</a:t>
                      </a:r>
                      <a:endParaRPr lang="en-GB" sz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Financial stress documented in public sources - monitor for deterioration</a:t>
                      </a:r>
                    </a:p>
                  </a:txBody>
                  <a:tcPr marL="0" marT="0" marB="0"/>
                </a:tc>
                <a:extLst>
                  <a:ext uri="{0D108BD9-81ED-4DB2-BD59-A6C34878D82A}">
                    <a16:rowId xmlns:a16="http://schemas.microsoft.com/office/drawing/2014/main" val="2288398457"/>
                  </a:ext>
                </a:extLst>
              </a:tr>
              <a:tr h="128949">
                <a:tc>
                  <a:txBody>
                    <a:bodyPr/>
                    <a:lstStyle/>
                    <a:p>
                      <a:pPr marL="0" marR="0" lvl="0" indent="0" algn="ctr" defTabSz="4404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―</a:t>
                      </a:r>
                      <a:endParaRPr lang="en-GB" sz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Network isolation via PPI model limits visibility into actual operations</a:t>
                      </a:r>
                    </a:p>
                  </a:txBody>
                  <a:tcPr marL="0" marT="0" marB="0"/>
                </a:tc>
                <a:extLst>
                  <a:ext uri="{0D108BD9-81ED-4DB2-BD59-A6C34878D82A}">
                    <a16:rowId xmlns:a16="http://schemas.microsoft.com/office/drawing/2014/main" val="983309919"/>
                  </a:ext>
                </a:extLst>
              </a:tr>
              <a:tr h="128949">
                <a:tc>
                  <a:txBody>
                    <a:bodyPr/>
                    <a:lstStyle/>
                    <a:p>
                      <a:pPr marL="0" marR="0" lvl="0" indent="0" algn="ctr" defTabSz="44043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―</a:t>
                      </a:r>
                      <a:endParaRPr lang="en-GB" sz="12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+mn-lt"/>
                        <a:ea typeface="Inter" panose="02000503000000020004" pitchFamily="2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GB" sz="800" dirty="0">
                          <a:solidFill>
                            <a:schemeClr val="tx1"/>
                          </a:solidFill>
                          <a:latin typeface="+mn-lt"/>
                          <a:ea typeface="Inter" panose="02000503000000020004" pitchFamily="2" charset="0"/>
                        </a:rPr>
                        <a:t>State ownership double-edged: stability but opacity</a:t>
                      </a:r>
                    </a:p>
                  </a:txBody>
                  <a:tcPr marL="0" marT="0" marB="0"/>
                </a:tc>
                <a:extLst>
                  <a:ext uri="{0D108BD9-81ED-4DB2-BD59-A6C34878D82A}">
                    <a16:rowId xmlns:a16="http://schemas.microsoft.com/office/drawing/2014/main" val="349970703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1AA8BD6C-8122-F92F-C14A-91E074C1E2AE}"/>
              </a:ext>
            </a:extLst>
          </p:cNvPr>
          <p:cNvSpPr/>
          <p:nvPr/>
        </p:nvSpPr>
        <p:spPr>
          <a:xfrm>
            <a:off x="643504" y="6630831"/>
            <a:ext cx="4624455" cy="9993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GB" sz="800" dirty="0">
                <a:solidFill>
                  <a:schemeClr val="tx1"/>
                </a:solidFill>
              </a:rPr>
              <a:t>Automated Monitoring Triggers</a:t>
            </a:r>
            <a:endParaRPr lang="en-GB" sz="600" dirty="0">
              <a:solidFill>
                <a:schemeClr val="tx1"/>
              </a:solidFill>
            </a:endParaRPr>
          </a:p>
          <a:p>
            <a:endParaRPr lang="en-GB" sz="6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dirty="0">
                <a:solidFill>
                  <a:schemeClr val="tx1"/>
                </a:solidFill>
              </a:rPr>
              <a:t>Weekly score recalculation with 15-point threshold for re-review alert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dirty="0">
                <a:solidFill>
                  <a:schemeClr val="tx1"/>
                </a:solidFill>
              </a:rPr>
              <a:t>Monthly network quality assessment for partnership changes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dirty="0">
                <a:solidFill>
                  <a:schemeClr val="tx1"/>
                </a:solidFill>
              </a:rPr>
              <a:t>Real-time security incident monitoring via threat intelligence feeds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dirty="0">
                <a:solidFill>
                  <a:schemeClr val="tx1"/>
                </a:solidFill>
              </a:rPr>
              <a:t>Quarterly governance disclosure review for transparency shifts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800" dirty="0">
                <a:solidFill>
                  <a:schemeClr val="tx1"/>
                </a:solidFill>
              </a:rPr>
              <a:t>Continuous news monitoring for material operational events</a:t>
            </a:r>
          </a:p>
        </p:txBody>
      </p:sp>
    </p:spTree>
    <p:extLst>
      <p:ext uri="{BB962C8B-B14F-4D97-AF65-F5344CB8AC3E}">
        <p14:creationId xmlns:p14="http://schemas.microsoft.com/office/powerpoint/2010/main" val="3258503281"/>
      </p:ext>
    </p:extLst>
  </p:cSld>
  <p:clrMapOvr>
    <a:masterClrMapping/>
  </p:clrMapOvr>
</p:sld>
</file>

<file path=ppt/theme/theme1.xml><?xml version="1.0" encoding="utf-8"?>
<a:theme xmlns:a="http://schemas.openxmlformats.org/drawingml/2006/main" name="London Digital Hub">
  <a:themeElements>
    <a:clrScheme name="TheLondonDigitalHub_Colours">
      <a:dk1>
        <a:srgbClr val="000000"/>
      </a:dk1>
      <a:lt1>
        <a:srgbClr val="FFFFFE"/>
      </a:lt1>
      <a:dk2>
        <a:srgbClr val="182EF5"/>
      </a:dk2>
      <a:lt2>
        <a:srgbClr val="FFFFFE"/>
      </a:lt2>
      <a:accent1>
        <a:srgbClr val="040D62"/>
      </a:accent1>
      <a:accent2>
        <a:srgbClr val="FA00FF"/>
      </a:accent2>
      <a:accent3>
        <a:srgbClr val="FF2358"/>
      </a:accent3>
      <a:accent4>
        <a:srgbClr val="00E217"/>
      </a:accent4>
      <a:accent5>
        <a:srgbClr val="828DFA"/>
      </a:accent5>
      <a:accent6>
        <a:srgbClr val="FC8FFF"/>
      </a:accent6>
      <a:hlink>
        <a:srgbClr val="040D62"/>
      </a:hlink>
      <a:folHlink>
        <a:srgbClr val="FA00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ondon Digital Hub Masterdeck.potx" id="{74CF7874-494A-43BC-941A-8E44A5526054}" vid="{79D31DF9-E07A-479A-B93D-ABB8CAE97CC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e14b7f66-fced-4a15-a23e-050a92e9782a" xsi:nil="true"/>
    <lcf76f155ced4ddcb4097134ff3c332f xmlns="d67544f5-4e67-43d0-831b-ab10261cebd3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7E207DE930E2948B682F65F5AE37898" ma:contentTypeVersion="16" ma:contentTypeDescription="Create a new document." ma:contentTypeScope="" ma:versionID="d27a2af0e4b6315d90463413abf6615a">
  <xsd:schema xmlns:xsd="http://www.w3.org/2001/XMLSchema" xmlns:xs="http://www.w3.org/2001/XMLSchema" xmlns:p="http://schemas.microsoft.com/office/2006/metadata/properties" xmlns:ns1="http://schemas.microsoft.com/sharepoint/v3" xmlns:ns2="d67544f5-4e67-43d0-831b-ab10261cebd3" xmlns:ns3="e14b7f66-fced-4a15-a23e-050a92e9782a" targetNamespace="http://schemas.microsoft.com/office/2006/metadata/properties" ma:root="true" ma:fieldsID="5f4d79796445faf2d8a7eb646c4c50cb" ns1:_="" ns2:_="" ns3:_="">
    <xsd:import namespace="http://schemas.microsoft.com/sharepoint/v3"/>
    <xsd:import namespace="d67544f5-4e67-43d0-831b-ab10261cebd3"/>
    <xsd:import namespace="e14b7f66-fced-4a15-a23e-050a92e9782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7544f5-4e67-43d0-831b-ab10261ceb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a5a22fa6-c0c5-4d3c-b32b-2ee1789708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4b7f66-fced-4a15-a23e-050a92e9782a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7f6c2df5-f636-4efb-850c-98958d2f4430}" ma:internalName="TaxCatchAll" ma:showField="CatchAllData" ma:web="e14b7f66-fced-4a15-a23e-050a92e9782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07FAA4-5609-43CD-9FDD-2DBD8D424CC1}">
  <ds:schemaRefs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purl.org/dc/terms/"/>
    <ds:schemaRef ds:uri="e14b7f66-fced-4a15-a23e-050a92e9782a"/>
    <ds:schemaRef ds:uri="d67544f5-4e67-43d0-831b-ab10261cebd3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07DC3705-DC8F-4D95-8375-8CAB6A7717B3}">
  <ds:schemaRefs>
    <ds:schemaRef ds:uri="d67544f5-4e67-43d0-831b-ab10261cebd3"/>
    <ds:schemaRef ds:uri="e14b7f66-fced-4a15-a23e-050a92e9782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DD77558-89B1-4679-9306-1C4C48A5D3B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80276</TotalTime>
  <Words>646</Words>
  <Application>Microsoft Office PowerPoint</Application>
  <PresentationFormat>Custom</PresentationFormat>
  <Paragraphs>172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4" baseType="lpstr">
      <vt:lpstr>Aptos</vt:lpstr>
      <vt:lpstr>Aptos Display</vt:lpstr>
      <vt:lpstr>Aptos ExtraBold</vt:lpstr>
      <vt:lpstr>Aptos SemiBold</vt:lpstr>
      <vt:lpstr>Arial</vt:lpstr>
      <vt:lpstr>Calibri</vt:lpstr>
      <vt:lpstr>Inter</vt:lpstr>
      <vt:lpstr>Inter ExtraBold</vt:lpstr>
      <vt:lpstr>Inter Light</vt:lpstr>
      <vt:lpstr>Inter SemiBold</vt:lpstr>
      <vt:lpstr>Mulish SemiBold</vt:lpstr>
      <vt:lpstr>London Digital Hub</vt:lpstr>
      <vt:lpstr>PowerPoint Presentation</vt:lpstr>
      <vt:lpstr>PowerPoint Presentation</vt:lpstr>
    </vt:vector>
  </TitlesOfParts>
  <Company>MS Amlin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Walker, John</dc:creator>
  <cp:lastModifiedBy>John Walker</cp:lastModifiedBy>
  <cp:revision>1037</cp:revision>
  <dcterms:created xsi:type="dcterms:W3CDTF">2024-02-19T13:56:32Z</dcterms:created>
  <dcterms:modified xsi:type="dcterms:W3CDTF">2025-11-19T10:20:36Z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0x01010047E207DE930E2948B682F65F5AE37898</vt:lpwstr>
  </property>
  <property fmtid="{D5CDD505-2E9C-101B-9397-08002B2CF9AE}" pid="3" name="MSIP_Label_4d2f8e63-9d7b-42c2-ab15-593a0750883c_Enabled">
    <vt:lpwstr>true</vt:lpwstr>
  </property>
  <property fmtid="{D5CDD505-2E9C-101B-9397-08002B2CF9AE}" pid="4" name="MSIP_Label_4d2f8e63-9d7b-42c2-ab15-593a0750883c_SetDate">
    <vt:lpwstr>2024-02-19T19:10:02Z</vt:lpwstr>
  </property>
  <property fmtid="{D5CDD505-2E9C-101B-9397-08002B2CF9AE}" pid="5" name="MSIP_Label_4d2f8e63-9d7b-42c2-ab15-593a0750883c_Method">
    <vt:lpwstr>Privileged</vt:lpwstr>
  </property>
  <property fmtid="{D5CDD505-2E9C-101B-9397-08002B2CF9AE}" pid="6" name="MSIP_Label_4d2f8e63-9d7b-42c2-ab15-593a0750883c_Name">
    <vt:lpwstr>Classification - Strictly Confidential</vt:lpwstr>
  </property>
  <property fmtid="{D5CDD505-2E9C-101B-9397-08002B2CF9AE}" pid="7" name="MSIP_Label_4d2f8e63-9d7b-42c2-ab15-593a0750883c_SiteId">
    <vt:lpwstr>1c7b7e59-27b7-4538-9083-6757584d0420</vt:lpwstr>
  </property>
  <property fmtid="{D5CDD505-2E9C-101B-9397-08002B2CF9AE}" pid="8" name="MSIP_Label_4d2f8e63-9d7b-42c2-ab15-593a0750883c_ActionId">
    <vt:lpwstr>f28ff661-2ebb-42e5-8097-9bde7789551b</vt:lpwstr>
  </property>
  <property fmtid="{D5CDD505-2E9C-101B-9397-08002B2CF9AE}" pid="9" name="MSIP_Label_4d2f8e63-9d7b-42c2-ab15-593a0750883c_ContentBits">
    <vt:lpwstr>2</vt:lpwstr>
  </property>
  <property fmtid="{D5CDD505-2E9C-101B-9397-08002B2CF9AE}" pid="10" name="ClassificationContentMarkingFooterLocations">
    <vt:lpwstr>Office Theme:10\1_Office Theme:7\2_Office Theme:10</vt:lpwstr>
  </property>
  <property fmtid="{D5CDD505-2E9C-101B-9397-08002B2CF9AE}" pid="11" name="ClassificationContentMarkingFooterText">
    <vt:lpwstr>Strictly Confidential</vt:lpwstr>
  </property>
  <property fmtid="{D5CDD505-2E9C-101B-9397-08002B2CF9AE}" pid="12" name="MediaServiceImageTags">
    <vt:lpwstr/>
  </property>
</Properties>
</file>